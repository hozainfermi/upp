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0999D4A-D563-4027-8C6A-99D2302CAAA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7582" userDrawn="1">
          <p15:clr>
            <a:srgbClr val="A4A3A4"/>
          </p15:clr>
        </p15:guide>
        <p15:guide id="4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A9DB"/>
    <a:srgbClr val="137C87"/>
    <a:srgbClr val="0046B8"/>
    <a:srgbClr val="156EFF"/>
    <a:srgbClr val="4AD6E5"/>
    <a:srgbClr val="72A7FE"/>
    <a:srgbClr val="004ECC"/>
    <a:srgbClr val="1B71FD"/>
    <a:srgbClr val="0153D9"/>
    <a:srgbClr val="002D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4" autoAdjust="0"/>
  </p:normalViewPr>
  <p:slideViewPr>
    <p:cSldViewPr snapToGrid="0">
      <p:cViewPr>
        <p:scale>
          <a:sx n="50" d="100"/>
          <a:sy n="50" d="100"/>
        </p:scale>
        <p:origin x="1891" y="384"/>
      </p:cViewPr>
      <p:guideLst>
        <p:guide pos="3840"/>
        <p:guide pos="7582"/>
        <p:guide/>
        <p:guide orient="horz" pos="3974"/>
        <p:guide orient="horz" pos="3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Результаты</a:t>
            </a:r>
            <a:r>
              <a:rPr lang="ru-RU" sz="2000" baseline="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опроса</a:t>
            </a:r>
            <a:endParaRPr lang="ru-RU" sz="2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Хотят простой конструктор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63-4A41-BBAA-C4C6D9A1014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Считают что кросплатформенность важна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63-4A41-BBAA-C4C6D9A1014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Готовы платить $5-10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Лист1!$D$2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63-4A41-BBAA-C4C6D9A1014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 Не хотят разбираться с Rainmeter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Группа опрошенных</c:v>
                </c:pt>
              </c:strCache>
            </c:strRef>
          </c:cat>
          <c:val>
            <c:numRef>
              <c:f>Лист1!$E$2</c:f>
              <c:numCache>
                <c:formatCode>General</c:formatCode>
                <c:ptCount val="1"/>
                <c:pt idx="0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863-4A41-BBAA-C4C6D9A101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9898592"/>
        <c:axId val="509895640"/>
      </c:barChart>
      <c:catAx>
        <c:axId val="5098985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RU"/>
          </a:p>
        </c:txPr>
        <c:crossAx val="509895640"/>
        <c:crosses val="autoZero"/>
        <c:auto val="1"/>
        <c:lblAlgn val="ctr"/>
        <c:lblOffset val="100"/>
        <c:noMultiLvlLbl val="0"/>
      </c:catAx>
      <c:valAx>
        <c:axId val="509895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09898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066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49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616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23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7901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238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438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20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414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2332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2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E4336-F148-433E-B6EE-9323191A377D}" type="datetimeFigureOut">
              <a:rPr lang="ru-RU" smtClean="0"/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C5BC0-2BE4-43EC-B222-B3175320CA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169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972753" y="-4835790"/>
            <a:ext cx="16630613" cy="18649220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298149" y="613168"/>
            <a:ext cx="35957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WidgetForge</a:t>
            </a:r>
            <a:r>
              <a:rPr lang="en-US" b="1" dirty="0"/>
              <a:t> 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887703" y="1183091"/>
            <a:ext cx="441659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Проблема и Решение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1464" y="1895078"/>
            <a:ext cx="22076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Проблема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53277" y="1889740"/>
            <a:ext cx="32015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Наше решение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5516" y="2706675"/>
            <a:ext cx="5210484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Rainmeter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 нужно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кодить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сложно</a:t>
            </a:r>
          </a:p>
          <a:p>
            <a:endParaRPr lang="en-US" sz="280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Только для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en-US" sz="2800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FF0000"/>
                </a:solidFill>
                <a:latin typeface="Century Gothic" panose="020B0502020202020204" pitchFamily="34" charset="0"/>
              </a:rPr>
              <a:t>❌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Нет встроенного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инжектирования</a:t>
            </a:r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6000" y="2646365"/>
            <a:ext cx="52927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Визуальный конструктор (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Drag-and-Drop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Работает на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macOS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Linux</a:t>
            </a:r>
            <a:endParaRPr lang="en-US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rgbClr val="00B050"/>
                </a:solidFill>
                <a:latin typeface="Century Gothic" panose="020B0502020202020204" pitchFamily="34" charset="0"/>
              </a:rPr>
              <a:t>✅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Встраивайте </a:t>
            </a:r>
            <a:r>
              <a:rPr lang="ru-RU" sz="28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виджеты</a:t>
            </a:r>
            <a:r>
              <a:rPr lang="ru-RU" sz="28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в любые приложения</a:t>
            </a:r>
            <a:endParaRPr lang="ru-RU" sz="2800" b="0" i="0" dirty="0">
              <a:solidFill>
                <a:schemeClr val="bg1">
                  <a:lumMod val="9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9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8" dur="13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1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2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8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80000">
                                          <p:cBhvr additive="base">
                                            <p:cTn id="15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80000">
                                          <p:cBhvr additive="base">
                                            <p:cTn id="1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7" grpId="0" animBg="1"/>
          <p:bldP spid="2" grpId="0"/>
          <p:bldP spid="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6" dur="9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7" presetID="8" presetClass="emph" presetSubtype="0" repeatCount="indefinite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Rot by="21600000">
                                          <p:cBhvr>
                                            <p:cTn id="8" dur="13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8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0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7" grpId="0" animBg="1"/>
          <p:bldP spid="2" grpId="0"/>
          <p:bldP spid="3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335003" y="-7201413"/>
            <a:ext cx="20005283" cy="22098402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314355" y="537932"/>
            <a:ext cx="75632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Как мы будем развиваться?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75" y="1476740"/>
            <a:ext cx="12188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Монетизация: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ru-RU" sz="3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Freemium</a:t>
            </a: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База — бесплатно, PRO-функции — по подписке</a:t>
            </a:r>
          </a:p>
          <a:p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174" y="2659745"/>
            <a:ext cx="11541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План:</a:t>
            </a:r>
            <a:endParaRPr lang="ru-RU" sz="30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MVP: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Редактор + базовые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виджеты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Windows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Версия 1.0: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Инжектор + кроссплатформенность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Версия 2.0:</a:t>
            </a:r>
            <a:r>
              <a:rPr lang="ru-RU" sz="30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Магазин готовых </a:t>
            </a:r>
            <a:r>
              <a:rPr lang="ru-RU" sz="30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виджетов</a:t>
            </a:r>
            <a:endParaRPr lang="ru-RU" sz="3000" b="0" i="0" dirty="0">
              <a:solidFill>
                <a:schemeClr val="bg1">
                  <a:lumMod val="9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48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310630" y="-7611670"/>
            <a:ext cx="19956535" cy="2204455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095500" y="537932"/>
            <a:ext cx="990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Почему именно </a:t>
            </a:r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WidgetForge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? </a:t>
            </a:r>
          </a:p>
          <a:p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6343650" y="-2000250"/>
            <a:ext cx="2304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Проблема и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09" y="1402277"/>
            <a:ext cx="1196559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Единственный кроссплатформенный конструктор с визуальным редактором и </a:t>
            </a:r>
            <a:r>
              <a:rPr lang="ru-RU" sz="38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инжектированием</a:t>
            </a:r>
            <a:r>
              <a:rPr lang="ru-RU" sz="38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— без программирования</a:t>
            </a:r>
          </a:p>
          <a:p>
            <a:endParaRPr lang="ru-RU" sz="38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410609"/>
            <a:ext cx="12036425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Что это значит для пользователя:</a:t>
            </a:r>
            <a:endParaRPr lang="ru-RU" sz="35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pPr lvl="1"/>
            <a:r>
              <a:rPr lang="ru-RU" sz="3500" dirty="0">
                <a:solidFill>
                  <a:srgbClr val="FF0000"/>
                </a:solidFill>
                <a:latin typeface="Century Gothic" panose="020B0502020202020204" pitchFamily="34" charset="0"/>
              </a:rPr>
              <a:t>🚀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Быстро: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Собрал </a:t>
            </a:r>
            <a:r>
              <a:rPr lang="ru-RU" sz="35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за 5 минут</a:t>
            </a:r>
          </a:p>
          <a:p>
            <a:pPr lvl="1"/>
            <a:r>
              <a:rPr lang="ru-RU" sz="3500" dirty="0">
                <a:solidFill>
                  <a:schemeClr val="accent4"/>
                </a:solidFill>
                <a:latin typeface="Century Gothic" panose="020B0502020202020204" pitchFamily="34" charset="0"/>
              </a:rPr>
              <a:t>💡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Просто: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Мыслите дизайном, а не кодом</a:t>
            </a:r>
          </a:p>
          <a:p>
            <a:pPr lvl="1"/>
            <a:r>
              <a:rPr lang="ru-RU" sz="3500" dirty="0">
                <a:solidFill>
                  <a:srgbClr val="137C87"/>
                </a:solidFill>
                <a:latin typeface="Century Gothic" panose="020B0502020202020204" pitchFamily="34" charset="0"/>
              </a:rPr>
              <a:t>🔄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Гибко: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Один </a:t>
            </a:r>
            <a:r>
              <a:rPr lang="ru-RU" sz="3500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виджет</a:t>
            </a:r>
            <a:r>
              <a:rPr lang="ru-RU" sz="350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— все ваши устройства и приложения</a:t>
            </a:r>
          </a:p>
          <a:p>
            <a:endParaRPr lang="ru-RU" sz="3500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78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030564" y="-6606413"/>
            <a:ext cx="19396403" cy="21425816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066944" y="421285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 рынка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" y="1055240"/>
            <a:ext cx="119017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Объём рынка: $2.5 млрд глобально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Целевой сегмент: 5-7 млн пользователей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Основная ЦА: стримеры, геймеры, IT-специалисты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Ключевые потребности: простота, кроссплатформенность, интеграция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Барьеры: технологические, финансы, лояльность к конкурентам</a:t>
            </a:r>
            <a:endParaRPr lang="ru-RU" sz="35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7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994123" y="-4742508"/>
            <a:ext cx="16836654" cy="1859824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2467429" y="421285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Конкурентный анализ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688932"/>
              </p:ext>
            </p:extLst>
          </p:nvPr>
        </p:nvGraphicFramePr>
        <p:xfrm>
          <a:off x="351522" y="1249445"/>
          <a:ext cx="11535677" cy="4832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5428">
                  <a:extLst>
                    <a:ext uri="{9D8B030D-6E8A-4147-A177-3AD203B41FA5}">
                      <a16:colId xmlns:a16="http://schemas.microsoft.com/office/drawing/2014/main" val="4090538701"/>
                    </a:ext>
                  </a:extLst>
                </a:gridCol>
                <a:gridCol w="3260083">
                  <a:extLst>
                    <a:ext uri="{9D8B030D-6E8A-4147-A177-3AD203B41FA5}">
                      <a16:colId xmlns:a16="http://schemas.microsoft.com/office/drawing/2014/main" val="2742220193"/>
                    </a:ext>
                  </a:extLst>
                </a:gridCol>
                <a:gridCol w="3260083">
                  <a:extLst>
                    <a:ext uri="{9D8B030D-6E8A-4147-A177-3AD203B41FA5}">
                      <a16:colId xmlns:a16="http://schemas.microsoft.com/office/drawing/2014/main" val="463745168"/>
                    </a:ext>
                  </a:extLst>
                </a:gridCol>
                <a:gridCol w="3260083">
                  <a:extLst>
                    <a:ext uri="{9D8B030D-6E8A-4147-A177-3AD203B41FA5}">
                      <a16:colId xmlns:a16="http://schemas.microsoft.com/office/drawing/2014/main" val="599597554"/>
                    </a:ext>
                  </a:extLst>
                </a:gridCol>
              </a:tblGrid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Параметр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Rainmeter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Wallpaper Engine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WidgetForge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extLst>
                  <a:ext uri="{0D108BD9-81ED-4DB2-BD59-A6C34878D82A}">
                    <a16:rowId xmlns:a16="http://schemas.microsoft.com/office/drawing/2014/main" val="1306864596"/>
                  </a:ext>
                </a:extLst>
              </a:tr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Цена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Бесплатно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$3.99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Freemium (база - бесплатно)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4013262990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Кроссплатформенность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Только Windows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Только Windows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Windows, macOS, Linux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1532909473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Сложность использования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(требует coding)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Низкая (визуальный редактор)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67477180"/>
                  </a:ext>
                </a:extLst>
              </a:tr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Инжектирование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Нет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Нет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Есть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86678863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Библиотека готовых виджетов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Огромная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Ограниченная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 (план)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701819723"/>
                  </a:ext>
                </a:extLst>
              </a:tr>
              <a:tr h="73591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Производительность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Средняя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Высокая (план)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2643925452"/>
                  </a:ext>
                </a:extLst>
              </a:tr>
              <a:tr h="47209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UI/UX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0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Устаревший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>
                          <a:effectLst/>
                        </a:rPr>
                        <a:t>Современный</a:t>
                      </a:r>
                      <a:endParaRPr lang="ru-RU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150046" marT="93779" marB="9377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ru-RU" sz="1100" kern="100" dirty="0">
                          <a:effectLst/>
                        </a:rPr>
                        <a:t>Современный, интуитивный</a:t>
                      </a:r>
                      <a:endParaRPr lang="ru-RU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150046" marR="0" marT="93779" marB="93779" anchor="ctr"/>
                </a:tc>
                <a:extLst>
                  <a:ext uri="{0D108BD9-81ED-4DB2-BD59-A6C34878D82A}">
                    <a16:rowId xmlns:a16="http://schemas.microsoft.com/office/drawing/2014/main" val="1415594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89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871157" y="-5279248"/>
            <a:ext cx="17481876" cy="19310975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862287" y="46695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GAP-</a:t>
            </a: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598609"/>
              </p:ext>
            </p:extLst>
          </p:nvPr>
        </p:nvGraphicFramePr>
        <p:xfrm>
          <a:off x="943430" y="1757302"/>
          <a:ext cx="10613570" cy="3145676"/>
        </p:xfrm>
        <a:graphic>
          <a:graphicData uri="http://schemas.openxmlformats.org/drawingml/2006/table">
            <a:tbl>
              <a:tblPr/>
              <a:tblGrid>
                <a:gridCol w="3073876">
                  <a:extLst>
                    <a:ext uri="{9D8B030D-6E8A-4147-A177-3AD203B41FA5}">
                      <a16:colId xmlns:a16="http://schemas.microsoft.com/office/drawing/2014/main" val="287214856"/>
                    </a:ext>
                  </a:extLst>
                </a:gridCol>
                <a:gridCol w="3769847">
                  <a:extLst>
                    <a:ext uri="{9D8B030D-6E8A-4147-A177-3AD203B41FA5}">
                      <a16:colId xmlns:a16="http://schemas.microsoft.com/office/drawing/2014/main" val="840658452"/>
                    </a:ext>
                  </a:extLst>
                </a:gridCol>
                <a:gridCol w="3769847">
                  <a:extLst>
                    <a:ext uri="{9D8B030D-6E8A-4147-A177-3AD203B41FA5}">
                      <a16:colId xmlns:a16="http://schemas.microsoft.com/office/drawing/2014/main" val="2759122821"/>
                    </a:ext>
                  </a:extLst>
                </a:gridCol>
              </a:tblGrid>
              <a:tr h="786419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Текущее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9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Целевое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9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Разрыв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271029"/>
                  </a:ext>
                </a:extLst>
              </a:tr>
              <a:tr h="786419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Концепция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MVP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Разработка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950057"/>
                  </a:ext>
                </a:extLst>
              </a:tr>
              <a:tr h="786419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Нет пользователей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10K 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за 6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мес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Маркетинг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349483"/>
                  </a:ext>
                </a:extLst>
              </a:tr>
              <a:tr h="786419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Прототип</a:t>
                      </a:r>
                    </a:p>
                  </a:txBody>
                  <a:tcPr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Версия 1.0</a:t>
                      </a:r>
                    </a:p>
                  </a:txBody>
                  <a:tcPr marL="152400" marR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Тестирование</a:t>
                      </a:r>
                    </a:p>
                  </a:txBody>
                  <a:tcPr marL="15240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142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33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3926977" y="-6910780"/>
            <a:ext cx="20045953" cy="22143327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4862287" y="46695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CastDev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5144" y="1364343"/>
            <a:ext cx="5950856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  <a:endParaRPr lang="en-US" sz="34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Цель: +25% конверсии новых пользователей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Гипотеза: Интерактивный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онбординг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→ пользователи быстрее увидят ценность</a:t>
            </a: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Метрика: % создания первого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виджета</a:t>
            </a:r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Срок: 2 недели разработки</a:t>
            </a:r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85569" y="1364343"/>
            <a:ext cx="5950856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Цель: +40% удержания стримеров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Гипотеза: Готовые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Twitch-виджеты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→ решение конкретных болей</a:t>
            </a: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Метрика: DAU стримеров, использование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виджетов</a:t>
            </a:r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Срок: 3 недели разработки</a:t>
            </a:r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48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1905711" y="-5128419"/>
            <a:ext cx="17300562" cy="19110691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 результатов</a:t>
            </a:r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364343"/>
            <a:ext cx="6096000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Выводы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4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b="1" dirty="0"/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Рынок готов для простого решения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Ключевое УТП: простота + кроссплатформенность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Стратегия: старт со стримеров → экспансия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Приоритет: </a:t>
            </a:r>
            <a:r>
              <a:rPr lang="ru-RU" sz="25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онбординг</a:t>
            </a:r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и </a:t>
            </a:r>
            <a:r>
              <a:rPr lang="ru-RU" sz="25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Twitch</a:t>
            </a:r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-интеграция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Метрики успеха: конверсия и удержание</a:t>
            </a:r>
          </a:p>
          <a:p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6" name="Диаграмма 5"/>
          <p:cNvGraphicFramePr/>
          <p:nvPr>
            <p:extLst>
              <p:ext uri="{D42A27DB-BD31-4B8C-83A1-F6EECF244321}">
                <p14:modId xmlns:p14="http://schemas.microsoft.com/office/powerpoint/2010/main" val="1421276318"/>
              </p:ext>
            </p:extLst>
          </p:nvPr>
        </p:nvGraphicFramePr>
        <p:xfrm>
          <a:off x="5933571" y="1364343"/>
          <a:ext cx="6291414" cy="4781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1464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4617844" y="-6195329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/>
          <p:cNvSpPr/>
          <p:nvPr/>
        </p:nvSpPr>
        <p:spPr>
          <a:xfrm rot="16200000">
            <a:off x="-5748627" y="-5302468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5380231" y="425779"/>
            <a:ext cx="14315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WBS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270" y="537933"/>
            <a:ext cx="613238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3200" b="1" dirty="0"/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Принципы декомпозиции </a:t>
            </a:r>
            <a:r>
              <a:rPr lang="en-US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WBS</a:t>
            </a:r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Структура: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2 уровня детализации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4 основные фазы проекта</a:t>
            </a:r>
          </a:p>
          <a:p>
            <a:endParaRPr lang="ru-RU" sz="32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2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16+ конкретных задач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0" y="1570229"/>
            <a:ext cx="7125501" cy="304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3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/>
          <p:cNvSpPr/>
          <p:nvPr/>
        </p:nvSpPr>
        <p:spPr>
          <a:xfrm rot="16200000">
            <a:off x="-4668606" y="-5436363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262926" y="445116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Критерии декомпозиции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193" y="1502966"/>
            <a:ext cx="563154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Почему 2 уровня?</a:t>
            </a:r>
            <a:r>
              <a:rPr lang="ru-RU" sz="3400" b="1" u="sng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sz="3400" b="1" u="sng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ru-RU" b="1" dirty="0"/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Уровень 1 - Стратегический: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Фазы по 2-4 недели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Видимость общего прогресса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Контроль вех проекта</a:t>
            </a:r>
          </a:p>
          <a:p>
            <a:endParaRPr lang="ru-RU" sz="24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Уровень 2 - Тактический: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Задачи на 3-10 дней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Четкие критерии выполнения</a:t>
            </a:r>
          </a:p>
          <a:p>
            <a:r>
              <a:rPr lang="ru-RU" sz="25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Возможность оценки сроков</a:t>
            </a:r>
            <a:endParaRPr lang="en-US" sz="2500" b="1" dirty="0">
              <a:solidFill>
                <a:schemeClr val="bg1">
                  <a:lumMod val="95000"/>
                </a:schemeClr>
              </a:solidFill>
            </a:endParaRPr>
          </a:p>
          <a:p>
            <a:endParaRPr lang="ru-RU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8878" y="1502966"/>
            <a:ext cx="6556519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Каждая задача:</a:t>
            </a:r>
            <a:endParaRPr lang="ru-RU" sz="3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Имеет конкретный результат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Выполняется за 1-2 недели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Может быть оценена по времени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Имеет ответственного</a:t>
            </a:r>
            <a:endParaRPr lang="en-US" sz="28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endParaRPr lang="ru-RU" sz="28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0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Избегали:</a:t>
            </a:r>
            <a:endParaRPr lang="ru-RU" sz="3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Слишком мелких задач (&lt; 1 дня)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Расплывчатых формулировок</a:t>
            </a:r>
          </a:p>
          <a:p>
            <a:r>
              <a:rPr lang="ru-RU" sz="2800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Неизмеримых результатов</a:t>
            </a:r>
          </a:p>
          <a:p>
            <a:endParaRPr lang="ru-RU" sz="3000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58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/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/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/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Дорожная карта</a:t>
            </a: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>
            <a:fillRect/>
          </a:stretch>
        </p:blipFill>
        <p:spPr>
          <a:xfrm>
            <a:off x="421693" y="1736514"/>
            <a:ext cx="11348613" cy="372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7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E2AE6-A706-8F76-944C-396F82C0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A3ED81D2-2B45-6165-8118-151A075D022F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1223A3E-7C66-CE67-226B-9D1842C4F915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5A73C4F-15F5-9681-51C3-6B05FA73AA8D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517FEA-255E-E170-1359-799034FFA6B7}"/>
              </a:ext>
            </a:extLst>
          </p:cNvPr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Диаграмма Гранта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E98CF5F-B016-985C-0EDA-2436D0C36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900" y="1303179"/>
            <a:ext cx="9930918" cy="538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8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450EF-DAA4-BAFA-FAEA-B24DA512E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700F3951-EA44-EE63-E5F2-39FBB6382BE5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DB5B92A-ACF3-F8A1-C1F1-2AC044949859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EECAE93C-1463-FACD-D7F3-753F85C92843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EE3E9B-4DF4-9F94-0418-4668457572C6}"/>
              </a:ext>
            </a:extLst>
          </p:cNvPr>
          <p:cNvSpPr txBox="1"/>
          <p:nvPr/>
        </p:nvSpPr>
        <p:spPr>
          <a:xfrm>
            <a:off x="1302026" y="425779"/>
            <a:ext cx="99872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Задачи с основными параметрами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E4061C-6331-A24E-E5B6-C508D34A4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588"/>
            <a:ext cx="12471346" cy="530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5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994E-12E5-3FAB-6D2F-9533022F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FD494EFC-DF40-1A7E-51A4-46E4D5D7CFB8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C1E494B-992C-3F86-4EFC-0B74ECBF1440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C5644A31-8ED9-1152-468D-18B771243B0E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09B8C-B4B4-25E1-5060-7FD551BC76F9}"/>
              </a:ext>
            </a:extLst>
          </p:cNvPr>
          <p:cNvSpPr txBox="1"/>
          <p:nvPr/>
        </p:nvSpPr>
        <p:spPr>
          <a:xfrm>
            <a:off x="3959612" y="425779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Критический путь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2F3ECD-5C8B-A643-52B1-9145438E6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271"/>
            <a:ext cx="8698718" cy="44102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F31F58-EA04-E489-D256-3BC3D3EAF04E}"/>
              </a:ext>
            </a:extLst>
          </p:cNvPr>
          <p:cNvSpPr txBox="1"/>
          <p:nvPr/>
        </p:nvSpPr>
        <p:spPr>
          <a:xfrm>
            <a:off x="8738187" y="1572093"/>
            <a:ext cx="3453813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Критический путь проекта предполагает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Последовательное выполнение основных этапов</a:t>
            </a:r>
            <a:r>
              <a:rPr lang="en-US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:</a:t>
            </a:r>
            <a:br>
              <a:rPr lang="en-US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1. 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Анализ и проектирование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2. Разработка ядра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3. Тестирование и интеграция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4. Запуск и 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131631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7FD7-36A1-5854-F4C2-18FE8F99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9AF23E9C-082C-6AB3-095C-F5D553EA868C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A188E62-2AA3-E450-6947-E10D6D7E1081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716AF87-23AA-1CBD-9EA6-DBABA5E276E9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9657D4-00BA-5694-5E29-20D239567D41}"/>
              </a:ext>
            </a:extLst>
          </p:cNvPr>
          <p:cNvSpPr txBox="1"/>
          <p:nvPr/>
        </p:nvSpPr>
        <p:spPr>
          <a:xfrm>
            <a:off x="2431143" y="336991"/>
            <a:ext cx="7329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Выявленные </a:t>
            </a:r>
            <a:r>
              <a:rPr lang="ru-RU" sz="40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конфиликты</a:t>
            </a:r>
            <a:endParaRPr lang="ru-RU" sz="40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FB30B-1794-F7FD-FE15-26E1C6A160AC}"/>
              </a:ext>
            </a:extLst>
          </p:cNvPr>
          <p:cNvSpPr txBox="1"/>
          <p:nvPr/>
        </p:nvSpPr>
        <p:spPr>
          <a:xfrm>
            <a:off x="337997" y="1044877"/>
            <a:ext cx="1253717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Был выявлен конфликт связанный с порядком выполнения задач. Было принято решение изменить последовательность выполнения задач «разработка визуального редактора» и «реализация системы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инжектирования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», а также добавлено больше времени на разработку системы </a:t>
            </a:r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инжектирования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.</a:t>
            </a:r>
          </a:p>
          <a:p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3677D2-F09F-0FC1-1889-E30AF9DE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83" y="3184501"/>
            <a:ext cx="8818420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7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5987-3FC3-9094-ACE4-6A646ACE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1DCDFA31-6AD3-957A-0B2D-5DB8BEA36586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F6530D8-6B9D-1B73-0A95-A4AF6C39B49E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7BFE545-7104-8EE7-5B73-99E9BEFF34A5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3D0872-3825-DA98-338D-4D004602D80A}"/>
              </a:ext>
            </a:extLst>
          </p:cNvPr>
          <p:cNvSpPr txBox="1"/>
          <p:nvPr/>
        </p:nvSpPr>
        <p:spPr>
          <a:xfrm>
            <a:off x="2228951" y="-27352"/>
            <a:ext cx="10463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📈 РАСЧЕТ ПОКАЗАТЕЛЕЙ ДО ОПТИМИЗАЦИИ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1195A-338D-8BF5-E35C-303FCE91EE83}"/>
              </a:ext>
            </a:extLst>
          </p:cNvPr>
          <p:cNvSpPr txBox="1"/>
          <p:nvPr/>
        </p:nvSpPr>
        <p:spPr>
          <a:xfrm>
            <a:off x="-41809" y="1296087"/>
            <a:ext cx="616721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1. Коэффициент использования ресурсов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(Фактически использованное время / Доступное время) × 100%</a:t>
            </a:r>
          </a:p>
          <a:p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Общее время задач: 58 недель × 40ч = 2320 часов</a:t>
            </a:r>
          </a:p>
          <a:p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Доступное время: 30 недель × 40ч = 1200 часов</a:t>
            </a:r>
          </a:p>
          <a:p>
            <a:pPr marL="342900" indent="-342900">
              <a:buFontTx/>
              <a:buChar char="-"/>
            </a:pP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Коэффициент = (2320 / 1200) × 100% = 193%** ❌</a:t>
            </a:r>
            <a:endParaRPr lang="en-US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pPr marL="342900" indent="-342900">
              <a:buFontTx/>
              <a:buChar char="-"/>
            </a:pPr>
            <a:endParaRPr lang="ru-RU" sz="25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2500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Вывод:Критическая</a:t>
            </a:r>
            <a:r>
              <a:rPr lang="ru-RU" sz="25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перегрузка - ресурс работает на 193% от возможного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8C310-10D8-B48A-C9D5-87682E47FD3B}"/>
              </a:ext>
            </a:extLst>
          </p:cNvPr>
          <p:cNvSpPr txBox="1"/>
          <p:nvPr/>
        </p:nvSpPr>
        <p:spPr>
          <a:xfrm>
            <a:off x="6231011" y="1296087"/>
            <a:ext cx="6024788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2. Степень неравномерности загрузки</a:t>
            </a:r>
            <a:endParaRPr lang="en-US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Максимальная дневная загрузка / Средняя дневная загрузка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Максимальная нагрузка: 02.03-10.04 (6 недель) - 80ч/неделю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Средняя нагрузка: 2320ч / 30 недель = 77ч/неделю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**Степень неравномерности = 80 / 77 = 1,04**</a:t>
            </a:r>
          </a:p>
          <a:p>
            <a:endParaRPr lang="ru-RU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Вывод:</a:t>
            </a:r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Высокая неравномерность - пиковые нагрузки превышают средние на 4%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endParaRPr lang="ru-RU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86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A3BB1-3049-0E61-00D7-17D5D699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85F9E2A4-6766-1687-04FF-99953EAE4908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EEB3A3BA-4099-20E8-75A3-571531E7B730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9852D7C5-435E-A9A5-4613-B2BB2DFD71CC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04851B-2529-DA67-7E73-E3F572E0C754}"/>
              </a:ext>
            </a:extLst>
          </p:cNvPr>
          <p:cNvSpPr txBox="1"/>
          <p:nvPr/>
        </p:nvSpPr>
        <p:spPr>
          <a:xfrm>
            <a:off x="2228951" y="-27352"/>
            <a:ext cx="10463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📈 РАСЧЕТ ПОКАЗАТЕЛЕЙ ДО ОПТИМИЗАЦИИ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C357C-BD06-C996-8B40-19637BB2CF92}"/>
              </a:ext>
            </a:extLst>
          </p:cNvPr>
          <p:cNvSpPr txBox="1"/>
          <p:nvPr/>
        </p:nvSpPr>
        <p:spPr>
          <a:xfrm>
            <a:off x="0" y="1300747"/>
            <a:ext cx="600279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3. Время перегрузки</a:t>
            </a:r>
          </a:p>
          <a:p>
            <a:endParaRPr lang="ru-RU" sz="28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Формула: (Часы сверх нормы / Доступное время) × 100%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Часы сверх нормы: 2320ч - 1200ч = 1120 часов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Время перегрузки = (1120 / 1200) × 100% = 93% ❌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Вывод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Критический уровень - 93% времени ресурс перегружен</a:t>
            </a:r>
          </a:p>
          <a:p>
            <a:r>
              <a:rPr lang="ru-RU" sz="28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BA298-653A-EEFC-E551-249569BAF894}"/>
              </a:ext>
            </a:extLst>
          </p:cNvPr>
          <p:cNvSpPr txBox="1"/>
          <p:nvPr/>
        </p:nvSpPr>
        <p:spPr>
          <a:xfrm>
            <a:off x="6231011" y="1296087"/>
            <a:ext cx="602478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4. Время простоя</a:t>
            </a:r>
          </a:p>
          <a:p>
            <a:endParaRPr lang="en-US" sz="2400" b="1" dirty="0">
              <a:solidFill>
                <a:schemeClr val="bg1">
                  <a:lumMod val="9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Формула: (Часы простоя / Доступное время) × 100%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Расчет: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Периоды простоя: 07.12-25.12 (3 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× 13ч/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 + 21.06-30.06 (1.5 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× 20ч/</a:t>
            </a:r>
            <a:r>
              <a:rPr lang="ru-RU" sz="24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нед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) = 39ч + 30ч = 69 часов</a:t>
            </a:r>
          </a:p>
          <a:p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- Время простоя = (69 / 1200) × 100% = 5,75%**</a:t>
            </a:r>
          </a:p>
        </p:txBody>
      </p:sp>
    </p:spTree>
    <p:extLst>
      <p:ext uri="{BB962C8B-B14F-4D97-AF65-F5344CB8AC3E}">
        <p14:creationId xmlns:p14="http://schemas.microsoft.com/office/powerpoint/2010/main" val="388085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A49C-ACB7-31BC-E6AD-B5637EC78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F929FD08-9376-0FC2-DE9F-A8BED6EA7616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A2AA1C50-5278-0CD7-2987-D0FC3933A9DF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A0AC5BF-9F9D-1B6D-C352-5246B829305B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583DF8-5249-7B43-5962-B08ACEC4E394}"/>
              </a:ext>
            </a:extLst>
          </p:cNvPr>
          <p:cNvSpPr txBox="1"/>
          <p:nvPr/>
        </p:nvSpPr>
        <p:spPr>
          <a:xfrm>
            <a:off x="2228951" y="-27352"/>
            <a:ext cx="104634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🔧 ОПТИМИЗАЦИЯ ПЛАНА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B7DF6-689A-9C36-990E-61736294826E}"/>
              </a:ext>
            </a:extLst>
          </p:cNvPr>
          <p:cNvSpPr txBox="1"/>
          <p:nvPr/>
        </p:nvSpPr>
        <p:spPr>
          <a:xfrm>
            <a:off x="0" y="1300747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 корректировки: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 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1. Перенос "Создание базовых виджетов" с 02.03 на 13.04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2. Перенос "Реализация системы </a:t>
            </a:r>
            <a:r>
              <a:rPr lang="ru-RU" sz="3500" b="1" dirty="0" err="1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инжектирования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“</a:t>
            </a:r>
            <a:r>
              <a:rPr lang="en-US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с 23.03 на 20.04  </a:t>
            </a:r>
          </a:p>
          <a:p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3. Добавление задачи "Подготовка к релизу“</a:t>
            </a:r>
            <a:r>
              <a:rPr lang="en-US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ru-RU" sz="35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 период 07.12-25.12 (40 часов)</a:t>
            </a:r>
          </a:p>
        </p:txBody>
      </p:sp>
    </p:spTree>
    <p:extLst>
      <p:ext uri="{BB962C8B-B14F-4D97-AF65-F5344CB8AC3E}">
        <p14:creationId xmlns:p14="http://schemas.microsoft.com/office/powerpoint/2010/main" val="65803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3ACE6-DD1A-CC58-78FE-7564F096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1FE08455-DEAC-FD66-82E3-928BB8EEA9D4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10284853-52DC-1619-23E3-4B60AA71A45F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3A72D07A-244C-4961-8282-F11A16D90D2B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4A9E4-EE94-470B-1948-F33DC3590A5A}"/>
              </a:ext>
            </a:extLst>
          </p:cNvPr>
          <p:cNvSpPr txBox="1"/>
          <p:nvPr/>
        </p:nvSpPr>
        <p:spPr>
          <a:xfrm>
            <a:off x="2228951" y="-27352"/>
            <a:ext cx="104634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🔧Расчёт показателей после</a:t>
            </a:r>
            <a:b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</a:br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оптимизации плана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E196CB4-8D00-3A60-8DFF-89CA16FEA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850907"/>
              </p:ext>
            </p:extLst>
          </p:nvPr>
        </p:nvGraphicFramePr>
        <p:xfrm>
          <a:off x="274320" y="1861370"/>
          <a:ext cx="11551920" cy="4615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7980">
                  <a:extLst>
                    <a:ext uri="{9D8B030D-6E8A-4147-A177-3AD203B41FA5}">
                      <a16:colId xmlns:a16="http://schemas.microsoft.com/office/drawing/2014/main" val="2619926656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186250894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1856300373"/>
                    </a:ext>
                  </a:extLst>
                </a:gridCol>
                <a:gridCol w="2887980">
                  <a:extLst>
                    <a:ext uri="{9D8B030D-6E8A-4147-A177-3AD203B41FA5}">
                      <a16:colId xmlns:a16="http://schemas.microsoft.com/office/drawing/2014/main" val="3346281931"/>
                    </a:ext>
                  </a:extLst>
                </a:gridCol>
              </a:tblGrid>
              <a:tr h="1109865">
                <a:tc>
                  <a:txBody>
                    <a:bodyPr/>
                    <a:lstStyle/>
                    <a:p>
                      <a:r>
                        <a:rPr lang="ru-RU" sz="2000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ДО оптимизации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ПОСЛЕ оптимизации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Изменение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179408"/>
                  </a:ext>
                </a:extLst>
              </a:tr>
              <a:tr h="1109865">
                <a:tc>
                  <a:txBody>
                    <a:bodyPr/>
                    <a:lstStyle/>
                    <a:p>
                      <a:r>
                        <a:rPr lang="ru-RU" sz="2000" dirty="0"/>
                        <a:t>Коэффициент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192,5%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112,5%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-80%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473892"/>
                  </a:ext>
                </a:extLst>
              </a:tr>
              <a:tr h="1109865">
                <a:tc>
                  <a:txBody>
                    <a:bodyPr/>
                    <a:lstStyle/>
                    <a:p>
                      <a:r>
                        <a:rPr lang="ru-RU" sz="2000" dirty="0"/>
                        <a:t>Степень неравномерности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+17%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077386"/>
                  </a:ext>
                </a:extLst>
              </a:tr>
              <a:tr h="643017">
                <a:tc>
                  <a:txBody>
                    <a:bodyPr/>
                    <a:lstStyle/>
                    <a:p>
                      <a:r>
                        <a:rPr lang="ru-RU" sz="2000" dirty="0"/>
                        <a:t>Время перегрузки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-80,5%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029109"/>
                  </a:ext>
                </a:extLst>
              </a:tr>
              <a:tr h="643017">
                <a:tc>
                  <a:txBody>
                    <a:bodyPr/>
                    <a:lstStyle/>
                    <a:p>
                      <a:r>
                        <a:rPr lang="ru-RU" sz="2000" dirty="0"/>
                        <a:t>Время простоя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5,75%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1,67%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-4,08%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370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81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D95EE-9878-5DB7-F2AA-458C7F3B4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вал 13">
            <a:extLst>
              <a:ext uri="{FF2B5EF4-FFF2-40B4-BE49-F238E27FC236}">
                <a16:creationId xmlns:a16="http://schemas.microsoft.com/office/drawing/2014/main" id="{5B6C4597-3C0D-C8C2-0BFB-D422255718B9}"/>
              </a:ext>
            </a:extLst>
          </p:cNvPr>
          <p:cNvSpPr/>
          <p:nvPr/>
        </p:nvSpPr>
        <p:spPr>
          <a:xfrm rot="1548438">
            <a:off x="-4064506" y="-5123988"/>
            <a:ext cx="19996152" cy="17378114"/>
          </a:xfrm>
          <a:prstGeom prst="ellipse">
            <a:avLst/>
          </a:prstGeom>
          <a:gradFill flip="none" rotWithShape="1">
            <a:gsLst>
              <a:gs pos="0">
                <a:srgbClr val="002D76"/>
              </a:gs>
              <a:gs pos="100000">
                <a:srgbClr val="72A7FE"/>
              </a:gs>
              <a:gs pos="0">
                <a:srgbClr val="1B71FD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4201FFC-A609-3BAE-DCB9-C1E0ABC748D6}"/>
              </a:ext>
            </a:extLst>
          </p:cNvPr>
          <p:cNvSpPr/>
          <p:nvPr/>
        </p:nvSpPr>
        <p:spPr>
          <a:xfrm rot="16200000">
            <a:off x="-5649234" y="-5458872"/>
            <a:ext cx="14170269" cy="10463474"/>
          </a:xfrm>
          <a:prstGeom prst="ellipse">
            <a:avLst/>
          </a:prstGeom>
          <a:gradFill flip="none" rotWithShape="1">
            <a:gsLst>
              <a:gs pos="100000">
                <a:srgbClr val="137C87"/>
              </a:gs>
              <a:gs pos="0">
                <a:srgbClr val="4AD6E5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BA60D5E-37DD-06FD-F379-4B5CB3B81DEF}"/>
              </a:ext>
            </a:extLst>
          </p:cNvPr>
          <p:cNvSpPr/>
          <p:nvPr/>
        </p:nvSpPr>
        <p:spPr>
          <a:xfrm rot="19898243">
            <a:off x="4268775" y="3311716"/>
            <a:ext cx="13974658" cy="9089345"/>
          </a:xfrm>
          <a:prstGeom prst="ellipse">
            <a:avLst/>
          </a:prstGeom>
          <a:gradFill flip="none" rotWithShape="1">
            <a:gsLst>
              <a:gs pos="0">
                <a:srgbClr val="156EFF"/>
              </a:gs>
              <a:gs pos="85000">
                <a:srgbClr val="0046B8"/>
              </a:gs>
              <a:gs pos="0">
                <a:srgbClr val="0153D9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8E5DBB-479E-C4E5-FF80-D16D840A3E7C}"/>
              </a:ext>
            </a:extLst>
          </p:cNvPr>
          <p:cNvSpPr txBox="1"/>
          <p:nvPr/>
        </p:nvSpPr>
        <p:spPr>
          <a:xfrm>
            <a:off x="4728311" y="-76200"/>
            <a:ext cx="31355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b="1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rPr>
              <a:t>Выводы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94346-421E-58A1-BD3A-2444798966AA}"/>
              </a:ext>
            </a:extLst>
          </p:cNvPr>
          <p:cNvSpPr txBox="1"/>
          <p:nvPr/>
        </p:nvSpPr>
        <p:spPr>
          <a:xfrm>
            <a:off x="0" y="1029370"/>
            <a:ext cx="13125709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3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После оптимизации достигнуто: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Ликвидирована критическая перегрузка (с 193% до 112%)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Существенно снижено время перегрузки (с 93% до 12%)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Устранены периоды простоя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- Загрузка стала более сбалансированной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 </a:t>
            </a:r>
          </a:p>
          <a:p>
            <a:r>
              <a:rPr lang="ru-RU" sz="3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Эффективность использования ресурсов повысилась на 42%**</a:t>
            </a:r>
          </a:p>
          <a:p>
            <a:endParaRPr lang="ru-RU" sz="3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44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9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918</Words>
  <Application>Microsoft Office PowerPoint</Application>
  <PresentationFormat>Широкоэкранный</PresentationFormat>
  <Paragraphs>222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Century Gothic</vt:lpstr>
      <vt:lpstr>quote-cjk-patch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Ded Dedov</dc:creator>
  <cp:lastModifiedBy>Ded Dedov</cp:lastModifiedBy>
  <cp:revision>24</cp:revision>
  <dcterms:created xsi:type="dcterms:W3CDTF">2025-10-02T14:03:14Z</dcterms:created>
  <dcterms:modified xsi:type="dcterms:W3CDTF">2025-11-21T07:39:55Z</dcterms:modified>
</cp:coreProperties>
</file>