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50999D4A-D563-4027-8C6A-99D2302CAAA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pos="7582" userDrawn="1">
          <p15:clr>
            <a:srgbClr val="A4A3A4"/>
          </p15:clr>
        </p15:guide>
        <p15:guide id="4" userDrawn="1">
          <p15:clr>
            <a:srgbClr val="A4A3A4"/>
          </p15:clr>
        </p15:guide>
        <p15:guide id="5" orient="horz" pos="3974" userDrawn="1">
          <p15:clr>
            <a:srgbClr val="A4A3A4"/>
          </p15:clr>
        </p15:guide>
        <p15:guide id="6" orient="horz" pos="34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FF7"/>
    <a:srgbClr val="5B9BD5"/>
    <a:srgbClr val="73A9DB"/>
    <a:srgbClr val="137C87"/>
    <a:srgbClr val="0046B8"/>
    <a:srgbClr val="156EFF"/>
    <a:srgbClr val="4AD6E5"/>
    <a:srgbClr val="72A7FE"/>
    <a:srgbClr val="004ECC"/>
    <a:srgbClr val="1B71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4" autoAdjust="0"/>
  </p:normalViewPr>
  <p:slideViewPr>
    <p:cSldViewPr snapToGrid="0">
      <p:cViewPr varScale="1">
        <p:scale>
          <a:sx n="103" d="100"/>
          <a:sy n="103" d="100"/>
        </p:scale>
        <p:origin x="774" y="114"/>
      </p:cViewPr>
      <p:guideLst>
        <p:guide pos="3840"/>
        <p:guide pos="7582"/>
        <p:guide/>
        <p:guide orient="horz" pos="3974"/>
        <p:guide orient="horz" pos="3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Результаты</a:t>
            </a:r>
            <a:r>
              <a:rPr lang="ru-RU" sz="2000" baseline="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опроса</a:t>
            </a:r>
            <a:endParaRPr lang="ru-RU" sz="2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Хотят простой конструктор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63-4A41-BBAA-C4C6D9A1014D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Считают что кросплатформенность важна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63-4A41-BBAA-C4C6D9A1014D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Готовы платить $5-10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63-4A41-BBAA-C4C6D9A1014D}"/>
            </c:ext>
          </c:extLst>
        </c:ser>
        <c:ser>
          <c:idx val="3"/>
          <c:order val="3"/>
          <c:tx>
            <c:strRef>
              <c:f>Лист1!$E$1</c:f>
              <c:strCache>
                <c:ptCount val="1"/>
                <c:pt idx="0">
                  <c:v> Не хотят разбираться с Rainmeter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Группа опрошенных</c:v>
                </c:pt>
              </c:strCache>
            </c:strRef>
          </c:cat>
          <c:val>
            <c:numRef>
              <c:f>Лист1!$E$2</c:f>
              <c:numCache>
                <c:formatCode>General</c:formatCode>
                <c:ptCount val="1"/>
                <c:pt idx="0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863-4A41-BBAA-C4C6D9A101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09898592"/>
        <c:axId val="509895640"/>
      </c:barChart>
      <c:catAx>
        <c:axId val="509898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  <a:ea typeface="+mn-ea"/>
                <a:cs typeface="+mn-cs"/>
              </a:defRPr>
            </a:pPr>
            <a:endParaRPr lang="ru-RU"/>
          </a:p>
        </c:txPr>
        <c:crossAx val="509895640"/>
        <c:crosses val="autoZero"/>
        <c:auto val="1"/>
        <c:lblAlgn val="ctr"/>
        <c:lblOffset val="100"/>
        <c:noMultiLvlLbl val="0"/>
      </c:catAx>
      <c:valAx>
        <c:axId val="5098956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509898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066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849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3616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238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901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38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438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200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414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2332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29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E4336-F148-433E-B6EE-9323191A377D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5BC0-2BE4-43EC-B222-B3175320CA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1692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72753" y="-4835790"/>
            <a:ext cx="16630613" cy="18649220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298149" y="613168"/>
            <a:ext cx="3595701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WidgetForge</a:t>
            </a:r>
            <a:r>
              <a:rPr lang="en-US" b="1" dirty="0"/>
              <a:t> 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3887703" y="1183091"/>
            <a:ext cx="441659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Проблема и Решение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1464" y="1895078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Проблема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3277" y="1889740"/>
            <a:ext cx="320151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Наше решение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5516" y="2706675"/>
            <a:ext cx="521048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Rainmeter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 нужно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кодить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сложно</a:t>
            </a:r>
          </a:p>
          <a:p>
            <a:endParaRPr lang="en-US" sz="2800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Только для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en-US" sz="2800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FF0000"/>
                </a:solidFill>
                <a:latin typeface="Century Gothic" panose="020B0502020202020204" pitchFamily="34" charset="0"/>
              </a:rPr>
              <a:t>❌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Нет встроенного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инжектирования</a:t>
            </a:r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96000" y="2646365"/>
            <a:ext cx="5292725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Визуальный конструктор (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Drag-and-Drop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</a:t>
            </a:r>
            <a:endParaRPr lang="en-US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Работает на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macOS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,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Linux</a:t>
            </a:r>
            <a:endParaRPr lang="en-US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rgbClr val="00B050"/>
                </a:solidFill>
                <a:latin typeface="Century Gothic" panose="020B0502020202020204" pitchFamily="34" charset="0"/>
              </a:rPr>
              <a:t>✅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Встраивайте </a:t>
            </a:r>
            <a:r>
              <a:rPr lang="ru-RU" sz="28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виджеты</a:t>
            </a:r>
            <a:r>
              <a:rPr lang="ru-RU" sz="28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в любые приложения</a:t>
            </a:r>
            <a:endParaRPr lang="ru-RU" sz="2800" b="0" i="0" dirty="0">
              <a:solidFill>
                <a:schemeClr val="bg1">
                  <a:lumMod val="95000"/>
                </a:schemeClr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84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6" dur="9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7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8" dur="13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 p14:presetBounceEnd="8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80000">
                                          <p:cBhvr additive="base">
                                            <p:cTn id="11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80000">
                                          <p:cBhvr additive="base">
                                            <p:cTn id="12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8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80000">
                                          <p:cBhvr additive="base">
                                            <p:cTn id="15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80000">
                                          <p:cBhvr additive="base">
                                            <p:cTn id="16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7" grpId="0" animBg="1"/>
          <p:bldP spid="2" grpId="0"/>
          <p:bldP spid="3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6" dur="9000" fill="hold"/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7" presetID="8" presetClass="emph" presetSubtype="0" repeatCount="indefinite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animRot by="21600000">
                                          <p:cBhvr>
                                            <p:cTn id="8" dur="13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r</p:attrName>
                                            </p:attrNameLst>
                                          </p:cBhvr>
                                        </p:animRot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8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7" grpId="0" animBg="1"/>
          <p:bldP spid="2" grpId="0"/>
          <p:bldP spid="3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335003" y="-7201413"/>
            <a:ext cx="20005283" cy="22098402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14355" y="537932"/>
            <a:ext cx="75632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Как мы будем развиваться?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75" y="1476740"/>
            <a:ext cx="12188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Монетизация: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ru-RU" sz="3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Freemium</a:t>
            </a: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База — бесплатно, PRO-функции — по подписке</a:t>
            </a:r>
          </a:p>
          <a:p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174" y="2659745"/>
            <a:ext cx="1154112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План:</a:t>
            </a:r>
            <a:endParaRPr lang="ru-RU" sz="30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MVP: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Редактор + базовые 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виджеты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(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Windows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Версия 1.0: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Инжектор + кроссплатформенность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Версия 2.0:</a:t>
            </a:r>
            <a:r>
              <a:rPr lang="ru-RU" sz="30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Магазин готовых </a:t>
            </a:r>
            <a:r>
              <a:rPr lang="ru-RU" sz="30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виджетов</a:t>
            </a:r>
            <a:endParaRPr lang="ru-RU" sz="3000" b="0" i="0" dirty="0">
              <a:solidFill>
                <a:schemeClr val="bg1">
                  <a:lumMod val="95000"/>
                </a:schemeClr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489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310630" y="-7611670"/>
            <a:ext cx="19956535" cy="2204455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095500" y="537932"/>
            <a:ext cx="990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Почему именно </a:t>
            </a:r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WidgetForge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? </a:t>
            </a:r>
          </a:p>
          <a:p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6343650" y="-2000250"/>
            <a:ext cx="2304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Проблема и 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09" y="1402277"/>
            <a:ext cx="11965591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Единственный кроссплатформенный конструктор с визуальным редактором и </a:t>
            </a:r>
            <a:r>
              <a:rPr lang="ru-RU" sz="3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инжектированием</a:t>
            </a:r>
            <a:r>
              <a:rPr lang="ru-RU" sz="3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— без программирования</a:t>
            </a:r>
          </a:p>
          <a:p>
            <a:endParaRPr lang="ru-RU" sz="3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410609"/>
            <a:ext cx="120364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Что это значит для пользователя:</a:t>
            </a:r>
            <a:endParaRPr lang="ru-RU" sz="35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pPr lvl="1"/>
            <a:r>
              <a:rPr lang="ru-RU" sz="3500" dirty="0">
                <a:solidFill>
                  <a:srgbClr val="FF0000"/>
                </a:solidFill>
                <a:latin typeface="Century Gothic" panose="020B0502020202020204" pitchFamily="34" charset="0"/>
              </a:rPr>
              <a:t>🚀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Быстро: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Собрал </a:t>
            </a:r>
            <a:r>
              <a:rPr lang="ru-RU" sz="35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за 5 минут</a:t>
            </a:r>
          </a:p>
          <a:p>
            <a:pPr lvl="1"/>
            <a:r>
              <a:rPr lang="ru-RU" sz="3500" dirty="0">
                <a:solidFill>
                  <a:schemeClr val="accent4"/>
                </a:solidFill>
                <a:latin typeface="Century Gothic" panose="020B0502020202020204" pitchFamily="34" charset="0"/>
              </a:rPr>
              <a:t>💡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Просто: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Мыслите дизайном, а не кодом</a:t>
            </a:r>
          </a:p>
          <a:p>
            <a:pPr lvl="1"/>
            <a:r>
              <a:rPr lang="ru-RU" sz="3500" dirty="0">
                <a:solidFill>
                  <a:srgbClr val="137C87"/>
                </a:solidFill>
                <a:latin typeface="Century Gothic" panose="020B0502020202020204" pitchFamily="34" charset="0"/>
              </a:rPr>
              <a:t>🔄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Гибко: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Один </a:t>
            </a:r>
            <a:r>
              <a:rPr lang="ru-RU" sz="3500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виджет</a:t>
            </a:r>
            <a:r>
              <a:rPr lang="ru-RU" sz="3500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— все ваши устройства и приложения</a:t>
            </a:r>
          </a:p>
          <a:p>
            <a:endParaRPr lang="ru-RU" sz="35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84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030564" y="-6606413"/>
            <a:ext cx="19396403" cy="21425816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66944" y="421285"/>
            <a:ext cx="4191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рынка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" y="1055240"/>
            <a:ext cx="1190171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Объём рынка: $2.5 млрд глобально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Целевой сегмент: 5-7 млн пользователей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Основная ЦА: стримеры, геймеры, IT-специалисты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Ключевые потребности: простота, кроссплатформенность, интеграция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Барьеры: технологические, финансы, лояльность к конкурентам</a:t>
            </a:r>
            <a:endParaRPr lang="ru-RU" sz="35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8472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94123" y="-4742508"/>
            <a:ext cx="16836654" cy="18598245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467429" y="421285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Конкурентный анализ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688932"/>
              </p:ext>
            </p:extLst>
          </p:nvPr>
        </p:nvGraphicFramePr>
        <p:xfrm>
          <a:off x="351522" y="1249445"/>
          <a:ext cx="11535677" cy="4832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55428">
                  <a:extLst>
                    <a:ext uri="{9D8B030D-6E8A-4147-A177-3AD203B41FA5}">
                      <a16:colId xmlns:a16="http://schemas.microsoft.com/office/drawing/2014/main" val="4090538701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2742220193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463745168"/>
                    </a:ext>
                  </a:extLst>
                </a:gridCol>
                <a:gridCol w="3260083">
                  <a:extLst>
                    <a:ext uri="{9D8B030D-6E8A-4147-A177-3AD203B41FA5}">
                      <a16:colId xmlns:a16="http://schemas.microsoft.com/office/drawing/2014/main" val="599597554"/>
                    </a:ext>
                  </a:extLst>
                </a:gridCol>
              </a:tblGrid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Параметр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Rainmeter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Wallpaper Engine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WidgetForge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extLst>
                  <a:ext uri="{0D108BD9-81ED-4DB2-BD59-A6C34878D82A}">
                    <a16:rowId xmlns:a16="http://schemas.microsoft.com/office/drawing/2014/main" val="1306864596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Цена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Бесплатно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$3.99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Freemium (база - бесплатно)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4013262990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Кроссплатформенность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Только Windows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Только Windows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Windows, macOS, Linux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153290947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Сложность использования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 (требует coding)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Низкая (визуальный редактор)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67477180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Инжектирование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Нет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Есть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8667886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Библиотека готовых виджетов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Огромная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Ограниченная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 (план)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701819723"/>
                  </a:ext>
                </a:extLst>
              </a:tr>
              <a:tr h="7359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Производительность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Средняя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Высокая (план)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2643925452"/>
                  </a:ext>
                </a:extLst>
              </a:tr>
              <a:tr h="47209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UI/UX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0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Устаревший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>
                          <a:effectLst/>
                        </a:rPr>
                        <a:t>Современный</a:t>
                      </a:r>
                      <a:endParaRPr lang="ru-RU" sz="1100" kern="10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150046" marT="93779" marB="93779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100" kern="100" dirty="0">
                          <a:effectLst/>
                        </a:rPr>
                        <a:t>Современный, интуитивный</a:t>
                      </a:r>
                      <a:endParaRPr lang="ru-RU" sz="1100" kern="100" dirty="0">
                        <a:effectLst/>
                        <a:latin typeface="Aptos"/>
                        <a:ea typeface="Aptos"/>
                        <a:cs typeface="Times New Roman" panose="02020603050405020304" pitchFamily="18" charset="0"/>
                      </a:endParaRPr>
                    </a:p>
                  </a:txBody>
                  <a:tcPr marL="150046" marR="0" marT="93779" marB="93779" anchor="ctr"/>
                </a:tc>
                <a:extLst>
                  <a:ext uri="{0D108BD9-81ED-4DB2-BD59-A6C34878D82A}">
                    <a16:rowId xmlns:a16="http://schemas.microsoft.com/office/drawing/2014/main" val="1415594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891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871157" y="-5279248"/>
            <a:ext cx="17481876" cy="19310975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862287" y="46695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GAP-</a:t>
            </a:r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598609"/>
              </p:ext>
            </p:extLst>
          </p:nvPr>
        </p:nvGraphicFramePr>
        <p:xfrm>
          <a:off x="943430" y="1757302"/>
          <a:ext cx="10613570" cy="3145676"/>
        </p:xfrm>
        <a:graphic>
          <a:graphicData uri="http://schemas.openxmlformats.org/drawingml/2006/table">
            <a:tbl>
              <a:tblPr/>
              <a:tblGrid>
                <a:gridCol w="3073876">
                  <a:extLst>
                    <a:ext uri="{9D8B030D-6E8A-4147-A177-3AD203B41FA5}">
                      <a16:colId xmlns:a16="http://schemas.microsoft.com/office/drawing/2014/main" val="287214856"/>
                    </a:ext>
                  </a:extLst>
                </a:gridCol>
                <a:gridCol w="3769847">
                  <a:extLst>
                    <a:ext uri="{9D8B030D-6E8A-4147-A177-3AD203B41FA5}">
                      <a16:colId xmlns:a16="http://schemas.microsoft.com/office/drawing/2014/main" val="840658452"/>
                    </a:ext>
                  </a:extLst>
                </a:gridCol>
                <a:gridCol w="3769847">
                  <a:extLst>
                    <a:ext uri="{9D8B030D-6E8A-4147-A177-3AD203B41FA5}">
                      <a16:colId xmlns:a16="http://schemas.microsoft.com/office/drawing/2014/main" val="2759122821"/>
                    </a:ext>
                  </a:extLst>
                </a:gridCol>
              </a:tblGrid>
              <a:tr h="786419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Текущее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Целевое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Разрыв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A9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271029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Концепция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MVP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Разработка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5950057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Нет пользователей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10K 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за 6 </a:t>
                      </a:r>
                      <a:r>
                        <a:rPr lang="ru-RU" b="0" dirty="0" err="1">
                          <a:effectLst/>
                          <a:latin typeface="quote-cjk-patch"/>
                        </a:rPr>
                        <a:t>мес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Маркетинг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349483"/>
                  </a:ext>
                </a:extLst>
              </a:tr>
              <a:tr h="786419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Прототип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Версия 1.0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Тестирование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142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38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3926977" y="-6910780"/>
            <a:ext cx="20045953" cy="22143327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862287" y="46695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CastDev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5144" y="1364343"/>
            <a:ext cx="5950856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1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Цель: +25% конверсии новых пользователей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Гипотеза: Интерактивный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онбординг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→ пользователи быстрее увидят ценность</a:t>
            </a: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Метрика: % создания первого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</a:t>
            </a:r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Срок: 2 недели разработки</a:t>
            </a:r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85569" y="1364343"/>
            <a:ext cx="5950856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Цель: +40% удержания стримеров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Гипотеза: Готовые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Twitch-виджеты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→ решение конкретных болей</a:t>
            </a: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Метрика: DAU стримеров, использование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Срок: 3 недели разработки</a:t>
            </a:r>
            <a:endParaRPr lang="en-US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9482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1905711" y="-5128419"/>
            <a:ext cx="17300562" cy="19110691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результатов</a:t>
            </a:r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1364343"/>
            <a:ext cx="6096000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ru-RU" b="1" dirty="0"/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Рынок готов для простого решения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Ключевое УТП: простота + кроссплатформенность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Стратегия: старт со стримеров → экспансия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Приоритет: </a:t>
            </a:r>
            <a:r>
              <a:rPr lang="ru-RU" sz="25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онбординг</a:t>
            </a:r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и </a:t>
            </a:r>
            <a:r>
              <a:rPr lang="ru-RU" sz="25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Twitch</a:t>
            </a:r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-интеграция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Метрики успеха: конверсия и удержание</a:t>
            </a:r>
          </a:p>
          <a:p>
            <a:endParaRPr lang="en-US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graphicFrame>
        <p:nvGraphicFramePr>
          <p:cNvPr id="6" name="Диаграмма 5"/>
          <p:cNvGraphicFramePr/>
          <p:nvPr>
            <p:extLst>
              <p:ext uri="{D42A27DB-BD31-4B8C-83A1-F6EECF244321}">
                <p14:modId xmlns:p14="http://schemas.microsoft.com/office/powerpoint/2010/main" val="1421276318"/>
              </p:ext>
            </p:extLst>
          </p:nvPr>
        </p:nvGraphicFramePr>
        <p:xfrm>
          <a:off x="5933571" y="1364343"/>
          <a:ext cx="6291414" cy="4781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14643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617844" y="-6195329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5748627" y="-5302468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5380231" y="425779"/>
            <a:ext cx="1431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WBS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9270" y="537933"/>
            <a:ext cx="613238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ru-RU" sz="3200" b="1" dirty="0"/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Принципы декомпозиции </a:t>
            </a:r>
            <a:r>
              <a:rPr lang="en-US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WBS</a:t>
            </a:r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Структура: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2 уровня детализации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4 основные фазы проекта</a:t>
            </a:r>
          </a:p>
          <a:p>
            <a:endParaRPr lang="ru-RU" sz="32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2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16+ конкретных задач</a:t>
            </a:r>
          </a:p>
        </p:txBody>
      </p:sp>
      <p:pic>
        <p:nvPicPr>
          <p:cNvPr id="9" name="Рисунок 8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0" y="1570229"/>
            <a:ext cx="7125501" cy="3040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433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4668606" y="-5436363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262926" y="445116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Критерии декомпозиции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5193" y="1502966"/>
            <a:ext cx="563154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Почему 2 уровня?</a:t>
            </a:r>
            <a:r>
              <a:rPr lang="ru-RU" sz="3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en-US" sz="3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ru-RU" b="1" dirty="0"/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Уровень 1 - Стратегический: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Фазы по 2-4 недели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Видимость общего прогресса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Контроль вех проекта</a:t>
            </a:r>
          </a:p>
          <a:p>
            <a:endParaRPr lang="ru-RU" sz="24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Уровень 2 - Тактический: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Задачи на 3-10 дней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Четкие критерии выполнения</a:t>
            </a:r>
          </a:p>
          <a:p>
            <a:r>
              <a:rPr lang="ru-RU" sz="25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Возможность оценки сроков</a:t>
            </a:r>
            <a:endParaRPr lang="en-US" sz="2500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ru-R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18878" y="1502966"/>
            <a:ext cx="6556519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Каждая задача:</a:t>
            </a:r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Имеет конкретный результат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Выполняется за 1-2 недели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Может быть оценена по времени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Имеет ответственного</a:t>
            </a:r>
            <a:endParaRPr lang="en-US" sz="28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8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000" b="1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Избегали:</a:t>
            </a:r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Слишком мелких задач (&lt; 1 дня)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Расплывчатых формулировок</a:t>
            </a:r>
          </a:p>
          <a:p>
            <a:r>
              <a:rPr lang="ru-RU" sz="2800" dirty="0">
                <a:solidFill>
                  <a:schemeClr val="bg1">
                    <a:lumMod val="8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Неизмеримых результатов</a:t>
            </a:r>
          </a:p>
          <a:p>
            <a:endParaRPr lang="ru-RU" sz="3000" dirty="0">
              <a:solidFill>
                <a:schemeClr val="bg1">
                  <a:lumMod val="8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588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/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/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/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Дорожная карта</a:t>
            </a:r>
          </a:p>
        </p:txBody>
      </p:sp>
      <p:pic>
        <p:nvPicPr>
          <p:cNvPr id="8" name="Рисунок 7"/>
          <p:cNvPicPr/>
          <p:nvPr/>
        </p:nvPicPr>
        <p:blipFill>
          <a:blip r:embed="rId2"/>
          <a:stretch>
            <a:fillRect/>
          </a:stretch>
        </p:blipFill>
        <p:spPr>
          <a:xfrm>
            <a:off x="421693" y="1736514"/>
            <a:ext cx="11348613" cy="372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72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E2AE6-A706-8F76-944C-396F82C0A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A3ED81D2-2B45-6165-8118-151A075D022F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71223A3E-7C66-CE67-226B-9D1842C4F915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C5A73C4F-15F5-9681-51C3-6B05FA73AA8D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517FEA-255E-E170-1359-799034FFA6B7}"/>
              </a:ext>
            </a:extLst>
          </p:cNvPr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Диаграмма Гранта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E98CF5F-B016-985C-0EDA-2436D0C36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900" y="1303179"/>
            <a:ext cx="9930918" cy="538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89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50EF-DAA4-BAFA-FAEA-B24DA512E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700F3951-EA44-EE63-E5F2-39FBB6382BE5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CDB5B92A-ACF3-F8A1-C1F1-2AC044949859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EECAE93C-1463-FACD-D7F3-753F85C92843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EE3E9B-4DF4-9F94-0418-4668457572C6}"/>
              </a:ext>
            </a:extLst>
          </p:cNvPr>
          <p:cNvSpPr txBox="1"/>
          <p:nvPr/>
        </p:nvSpPr>
        <p:spPr>
          <a:xfrm>
            <a:off x="1302026" y="425779"/>
            <a:ext cx="9987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Задачи с основными параметрами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E4061C-6331-A24E-E5B6-C508D34A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588"/>
            <a:ext cx="12471346" cy="530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5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7994E-12E5-3FAB-6D2F-9533022F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FD494EFC-DF40-1A7E-51A4-46E4D5D7CFB8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E494B-992C-3F86-4EFC-0B74ECBF1440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C5644A31-8ED9-1152-468D-18B771243B0E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09B8C-B4B4-25E1-5060-7FD551BC76F9}"/>
              </a:ext>
            </a:extLst>
          </p:cNvPr>
          <p:cNvSpPr txBox="1"/>
          <p:nvPr/>
        </p:nvSpPr>
        <p:spPr>
          <a:xfrm>
            <a:off x="3959612" y="425779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путь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2F3ECD-5C8B-A643-52B1-9145438E6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4271"/>
            <a:ext cx="8698718" cy="44102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F31F58-EA04-E489-D256-3BC3D3EAF04E}"/>
              </a:ext>
            </a:extLst>
          </p:cNvPr>
          <p:cNvSpPr txBox="1"/>
          <p:nvPr/>
        </p:nvSpPr>
        <p:spPr>
          <a:xfrm>
            <a:off x="8738187" y="1572093"/>
            <a:ext cx="3453813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путь проекта предполагает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Последовательное выполнение основных этапов</a:t>
            </a: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:</a:t>
            </a:r>
            <a:b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</a:b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1. 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Анализ и проектирование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Разработка ядра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Тестирование и интеграция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4. Запуск и документация</a:t>
            </a:r>
          </a:p>
        </p:txBody>
      </p:sp>
    </p:spTree>
    <p:extLst>
      <p:ext uri="{BB962C8B-B14F-4D97-AF65-F5344CB8AC3E}">
        <p14:creationId xmlns:p14="http://schemas.microsoft.com/office/powerpoint/2010/main" val="1316317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7FD7-36A1-5854-F4C2-18FE8F99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9AF23E9C-082C-6AB3-095C-F5D553EA868C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A188E62-2AA3-E450-6947-E10D6D7E1081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3716AF87-23AA-1CBD-9EA6-DBABA5E276E9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9657D4-00BA-5694-5E29-20D239567D41}"/>
              </a:ext>
            </a:extLst>
          </p:cNvPr>
          <p:cNvSpPr txBox="1"/>
          <p:nvPr/>
        </p:nvSpPr>
        <p:spPr>
          <a:xfrm>
            <a:off x="2431143" y="336991"/>
            <a:ext cx="7329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Выявленные </a:t>
            </a:r>
            <a:r>
              <a:rPr lang="ru-RU" sz="40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конфиликты</a:t>
            </a:r>
            <a:endParaRPr lang="ru-RU" sz="40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9FB30B-1794-F7FD-FE15-26E1C6A160AC}"/>
              </a:ext>
            </a:extLst>
          </p:cNvPr>
          <p:cNvSpPr txBox="1"/>
          <p:nvPr/>
        </p:nvSpPr>
        <p:spPr>
          <a:xfrm>
            <a:off x="337997" y="1044877"/>
            <a:ext cx="125371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Был выявлен конфликт связанный с порядком выполнения задач. Было принято решение изменить последовательность выполнения задач «разработка визуального редактора» и «реализация системы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», а также добавлено больше времени на разработку системы </a:t>
            </a:r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инжектирования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</a:p>
          <a:p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93677D2-F09F-0FC1-1889-E30AF9DE3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883" y="3184501"/>
            <a:ext cx="8818420" cy="378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57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25987-3FC3-9094-ACE4-6A646ACE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1DCDFA31-6AD3-957A-0B2D-5DB8BEA36586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F6530D8-6B9D-1B73-0A95-A4AF6C39B49E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7BFE545-7104-8EE7-5B73-99E9BEFF34A5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3D0872-3825-DA98-338D-4D004602D80A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📈 РАСЧЕТ ПОКАЗАТЕЛЕЙ ДО ОПТИМИЗАЦИИ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1195A-338D-8BF5-E35C-303FCE91EE83}"/>
              </a:ext>
            </a:extLst>
          </p:cNvPr>
          <p:cNvSpPr txBox="1"/>
          <p:nvPr/>
        </p:nvSpPr>
        <p:spPr>
          <a:xfrm>
            <a:off x="-57049" y="1149603"/>
            <a:ext cx="6167212" cy="586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1. Коэффициент использования ресурсов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(Фактически использованное время / Доступное время) × 100%</a:t>
            </a:r>
          </a:p>
          <a:p>
            <a:endParaRPr lang="ru-RU" sz="25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Общее время задач: 58 недель × 40ч = 2320 часов</a:t>
            </a:r>
          </a:p>
          <a:p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Доступное время: 30 недель × 40ч = 1200 часов</a:t>
            </a:r>
          </a:p>
          <a:p>
            <a:pPr marL="342900" indent="-342900">
              <a:buFontTx/>
              <a:buChar char="-"/>
            </a:pP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Коэффициент = (2320 / 1200) × 100% = 193%** ❌</a:t>
            </a:r>
          </a:p>
          <a:p>
            <a:r>
              <a:rPr lang="ru-RU" sz="25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Вывод:Критическая</a:t>
            </a:r>
            <a:r>
              <a:rPr lang="ru-RU" sz="25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перегрузка - ресурс работает на 193% от возможного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8C310-10D8-B48A-C9D5-87682E47FD3B}"/>
              </a:ext>
            </a:extLst>
          </p:cNvPr>
          <p:cNvSpPr txBox="1"/>
          <p:nvPr/>
        </p:nvSpPr>
        <p:spPr>
          <a:xfrm>
            <a:off x="6231011" y="1296087"/>
            <a:ext cx="6024788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Степень неравномерности загрузки</a:t>
            </a:r>
            <a:endParaRPr lang="en-US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Максимальная дневная загрузка / Средняя дневная загрузка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Максимальная нагрузка: 02.03-10.04 (6 недель) - 80ч/неделю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Средняя нагрузка: 2320ч / 30 недель = 77ч/неделю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Степень неравномерности = 80 / 77 = 1,04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Вывод:</a:t>
            </a:r>
            <a:r>
              <a:rPr lang="en-US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Высокая неравномерность - пиковые нагрузки превышают средние на 4%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7867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A3BB1-3049-0E61-00D7-17D5D6994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85F9E2A4-6766-1687-04FF-99953EAE4908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EB3A3BA-4099-20E8-75A3-571531E7B730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852D7C5-435E-A9A5-4613-B2BB2DFD71CC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04851B-2529-DA67-7E73-E3F572E0C754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📈 РАСЧЕТ ПОКАЗАТЕЛЕЙ ДО ОПТИМИЗАЦИИ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C357C-BD06-C996-8B40-19637BB2CF92}"/>
              </a:ext>
            </a:extLst>
          </p:cNvPr>
          <p:cNvSpPr txBox="1"/>
          <p:nvPr/>
        </p:nvSpPr>
        <p:spPr>
          <a:xfrm>
            <a:off x="0" y="1300747"/>
            <a:ext cx="6002799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Время перегрузки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Формула: (Часы сверх нормы / Доступное время) × 100%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Часы сверх нормы: 2320ч - 1200ч = 1120 часов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Время перегрузки = (1120 / 1200) × 100% = 93% ❌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</a:t>
            </a:r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Критический уровень - 93% времени ресурс перегружен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7BA298-653A-EEFC-E551-249569BAF894}"/>
              </a:ext>
            </a:extLst>
          </p:cNvPr>
          <p:cNvSpPr txBox="1"/>
          <p:nvPr/>
        </p:nvSpPr>
        <p:spPr>
          <a:xfrm>
            <a:off x="6231011" y="1296087"/>
            <a:ext cx="602478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4. Время простоя</a:t>
            </a:r>
          </a:p>
          <a:p>
            <a:endParaRPr lang="en-US" sz="2400" b="1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Формула: (Часы простоя / Доступное время) × 100%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Расчет: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Периоды простоя: 07.12-25.12 (3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× 13ч/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 + 21.06-30.06 (1.5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× 20ч/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нед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) = 39ч + 30ч = 69 часов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- Время простоя = (69 / 1200) × 100% = 5,75%**</a:t>
            </a:r>
          </a:p>
        </p:txBody>
      </p:sp>
    </p:spTree>
    <p:extLst>
      <p:ext uri="{BB962C8B-B14F-4D97-AF65-F5344CB8AC3E}">
        <p14:creationId xmlns:p14="http://schemas.microsoft.com/office/powerpoint/2010/main" val="388085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2A49C-ACB7-31BC-E6AD-B5637EC78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F929FD08-9376-0FC2-DE9F-A8BED6EA7616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A2AA1C50-5278-0CD7-2987-D0FC3933A9DF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0AC5BF-9F9D-1B6D-C352-5246B829305B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583DF8-5249-7B43-5962-B08ACEC4E394}"/>
              </a:ext>
            </a:extLst>
          </p:cNvPr>
          <p:cNvSpPr txBox="1"/>
          <p:nvPr/>
        </p:nvSpPr>
        <p:spPr>
          <a:xfrm>
            <a:off x="2228951" y="-27352"/>
            <a:ext cx="104634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🔧 ОПТИМИЗАЦИЯ ПЛАНА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0B7DF6-689A-9C36-990E-61736294826E}"/>
              </a:ext>
            </a:extLst>
          </p:cNvPr>
          <p:cNvSpPr txBox="1"/>
          <p:nvPr/>
        </p:nvSpPr>
        <p:spPr>
          <a:xfrm>
            <a:off x="0" y="1300747"/>
            <a:ext cx="1219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 корректировки: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 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1. Перенос "Создание базовых виджетов" с 02.03 на 13.04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2. Перенос "Реализация системы </a:t>
            </a:r>
            <a:r>
              <a:rPr lang="ru-RU" sz="3500" b="1" dirty="0" err="1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инжектирования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“</a:t>
            </a:r>
            <a:r>
              <a:rPr lang="en-US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с 23.03 на 20.04  </a:t>
            </a:r>
          </a:p>
          <a:p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3. Добавление задачи "Подготовка к релизу“</a:t>
            </a:r>
            <a:r>
              <a:rPr lang="en-US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 </a:t>
            </a:r>
            <a:r>
              <a:rPr lang="ru-RU" sz="35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 период 07.12-25.12 (40 часов)</a:t>
            </a:r>
          </a:p>
        </p:txBody>
      </p:sp>
    </p:spTree>
    <p:extLst>
      <p:ext uri="{BB962C8B-B14F-4D97-AF65-F5344CB8AC3E}">
        <p14:creationId xmlns:p14="http://schemas.microsoft.com/office/powerpoint/2010/main" val="658032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ACE6-DD1A-CC58-78FE-7564F0961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1FE08455-DEAC-FD66-82E3-928BB8EEA9D4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10284853-52DC-1619-23E3-4B60AA71A45F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3A72D07A-244C-4961-8282-F11A16D90D2B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4A9E4-EE94-470B-1948-F33DC3590A5A}"/>
              </a:ext>
            </a:extLst>
          </p:cNvPr>
          <p:cNvSpPr txBox="1"/>
          <p:nvPr/>
        </p:nvSpPr>
        <p:spPr>
          <a:xfrm>
            <a:off x="2228951" y="-27352"/>
            <a:ext cx="104634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🔧Расчёт показателей после</a:t>
            </a:r>
            <a:b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</a:br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оптимизации плана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E196CB4-8D00-3A60-8DFF-89CA16FEA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850907"/>
              </p:ext>
            </p:extLst>
          </p:nvPr>
        </p:nvGraphicFramePr>
        <p:xfrm>
          <a:off x="274320" y="1861370"/>
          <a:ext cx="11551920" cy="4615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980">
                  <a:extLst>
                    <a:ext uri="{9D8B030D-6E8A-4147-A177-3AD203B41FA5}">
                      <a16:colId xmlns:a16="http://schemas.microsoft.com/office/drawing/2014/main" val="2619926656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1862508943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1856300373"/>
                    </a:ext>
                  </a:extLst>
                </a:gridCol>
                <a:gridCol w="2887980">
                  <a:extLst>
                    <a:ext uri="{9D8B030D-6E8A-4147-A177-3AD203B41FA5}">
                      <a16:colId xmlns:a16="http://schemas.microsoft.com/office/drawing/2014/main" val="3346281931"/>
                    </a:ext>
                  </a:extLst>
                </a:gridCol>
              </a:tblGrid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ДО оптимизации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ПОСЛЕ оптимизации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Изменение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179408"/>
                  </a:ext>
                </a:extLst>
              </a:tr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Коэффициент использования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192,5%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112,5%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5473892"/>
                  </a:ext>
                </a:extLst>
              </a:tr>
              <a:tr h="1109865">
                <a:tc>
                  <a:txBody>
                    <a:bodyPr/>
                    <a:lstStyle/>
                    <a:p>
                      <a:r>
                        <a:rPr lang="ru-RU" sz="2000" dirty="0"/>
                        <a:t>Степень неравномерности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+17%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8077386"/>
                  </a:ext>
                </a:extLst>
              </a:tr>
              <a:tr h="643017">
                <a:tc>
                  <a:txBody>
                    <a:bodyPr/>
                    <a:lstStyle/>
                    <a:p>
                      <a:r>
                        <a:rPr lang="ru-RU" sz="2000" dirty="0"/>
                        <a:t>Время перегрузки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12,5%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-80,5%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29109"/>
                  </a:ext>
                </a:extLst>
              </a:tr>
              <a:tr h="643017">
                <a:tc>
                  <a:txBody>
                    <a:bodyPr/>
                    <a:lstStyle/>
                    <a:p>
                      <a:r>
                        <a:rPr lang="ru-RU" sz="2000" dirty="0"/>
                        <a:t>Время простоя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5,75%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1,67%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-4,08%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13708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819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8E5DBB-479E-C4E5-FF80-D16D840A3E7C}"/>
              </a:ext>
            </a:extLst>
          </p:cNvPr>
          <p:cNvSpPr txBox="1"/>
          <p:nvPr/>
        </p:nvSpPr>
        <p:spPr>
          <a:xfrm>
            <a:off x="4728311" y="-76200"/>
            <a:ext cx="31355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Выводы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4346-421E-58A1-BD3A-2444798966AA}"/>
              </a:ext>
            </a:extLst>
          </p:cNvPr>
          <p:cNvSpPr txBox="1"/>
          <p:nvPr/>
        </p:nvSpPr>
        <p:spPr>
          <a:xfrm>
            <a:off x="0" y="1029370"/>
            <a:ext cx="13125709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sz="3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После оптимизации достигнуто: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Ликвидирована критическая перегрузка (с 193% до 112%)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Существенно снижено время перегрузки (с 93% до 12%)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Устранены периоды простоя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 Загрузка стала более сбалансированной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</a:t>
            </a:r>
          </a:p>
          <a:p>
            <a:r>
              <a:rPr lang="ru-RU" sz="3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Эффективность использования ресурсов повысилась на 42%**</a:t>
            </a:r>
          </a:p>
          <a:p>
            <a:endParaRPr lang="ru-RU" sz="3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94421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794346-421E-58A1-BD3A-2444798966AA}"/>
              </a:ext>
            </a:extLst>
          </p:cNvPr>
          <p:cNvSpPr txBox="1"/>
          <p:nvPr/>
        </p:nvSpPr>
        <p:spPr>
          <a:xfrm>
            <a:off x="0" y="1029370"/>
            <a:ext cx="1218314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📋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1. Список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стейкхолдеров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(7 ключевых участников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en-US" sz="24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Заказчик/Инвестор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финансирует проект, принимает ключевые решения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Руководитель проекта (ПМ)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управление проектом, коммуникации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Архитектор C++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техническое руководство, проектирование архитектуры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Старший разработчик C++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разработка ядра, сложные модули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Разработчик UI/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создание </a:t>
            </a:r>
            <a:r>
              <a:rPr lang="ru-RU" sz="24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виджетов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, визуальный редактор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Тестировщик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/QA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тестирование, контроль качества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Технический писатель</a:t>
            </a: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документация, маркетинговые материалы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964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572713" y="57344"/>
            <a:ext cx="5046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План коммуникаций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452983"/>
              </p:ext>
            </p:extLst>
          </p:nvPr>
        </p:nvGraphicFramePr>
        <p:xfrm>
          <a:off x="-1" y="549276"/>
          <a:ext cx="12036427" cy="57605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70207">
                  <a:extLst>
                    <a:ext uri="{9D8B030D-6E8A-4147-A177-3AD203B41FA5}">
                      <a16:colId xmlns:a16="http://schemas.microsoft.com/office/drawing/2014/main" val="2345668268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163466741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33924854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3014379391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2894078424"/>
                    </a:ext>
                  </a:extLst>
                </a:gridCol>
                <a:gridCol w="2173244">
                  <a:extLst>
                    <a:ext uri="{9D8B030D-6E8A-4147-A177-3AD203B41FA5}">
                      <a16:colId xmlns:a16="http://schemas.microsoft.com/office/drawing/2014/main" val="1474659099"/>
                    </a:ext>
                  </a:extLst>
                </a:gridCol>
              </a:tblGrid>
              <a:tr h="62683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 dirty="0">
                          <a:effectLst/>
                        </a:rPr>
                        <a:t>Вид информации</a:t>
                      </a:r>
                      <a:endParaRPr lang="ru-RU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Кому направляется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Канал связи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Периодичность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Ответственный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Цель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extLst>
                  <a:ext uri="{0D108BD9-81ED-4DB2-BD59-A6C34878D82A}">
                    <a16:rowId xmlns:a16="http://schemas.microsoft.com/office/drawing/2014/main" val="3758739211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Статус проекта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Заказчик, руководство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Email-отчёт + Google Meet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Еженедельно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Отчёт о прогрессе, рисках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596571808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Технический стендап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Вся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Slack + ежедневный созвон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Ежедневно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Синхронизация разработки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3416207071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Баг-репорты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Разработчики, тестировщик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Яндекс Трекер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 мере обнаружения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QA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Устранение ошибок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3900531522"/>
                  </a:ext>
                </a:extLst>
              </a:tr>
              <a:tr h="34904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Код-ревью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GitHub Pull Requests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При каждом коммите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Старший разработчик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Контроль качества кода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650459520"/>
                  </a:ext>
                </a:extLst>
              </a:tr>
              <a:tr h="62683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Архитектурные решения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Архитектор, 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Confluence + митинг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2 недели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Архитектор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Согласование архитектуры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677645489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Демо-версии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Заказчик,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Zoom-демо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3 недели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Показ прогресса, сбор фидбека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2353537349"/>
                  </a:ext>
                </a:extLst>
              </a:tr>
              <a:tr h="1122468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Пользовательская документация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Тех.писатель, разработчики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Google Docs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По мере готовности модулей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Тех.писатель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Создание документации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967719498"/>
                  </a:ext>
                </a:extLst>
              </a:tr>
              <a:tr h="60685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Ретроспектива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Вся команда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Очная встреча/Miro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Раз в месяц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>
                          <a:effectLst/>
                        </a:rPr>
                        <a:t>ПМ</a:t>
                      </a:r>
                      <a:endParaRPr lang="ru-RU" sz="1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97783" marT="61114" marB="611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800"/>
                        </a:spcAft>
                      </a:pPr>
                      <a:r>
                        <a:rPr lang="ru-RU" sz="1400" kern="100" dirty="0">
                          <a:effectLst/>
                        </a:rPr>
                        <a:t>Улучшение процессов</a:t>
                      </a:r>
                      <a:endParaRPr lang="ru-RU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97783" marR="0" marT="61114" marB="61114" anchor="ctr"/>
                </a:tc>
                <a:extLst>
                  <a:ext uri="{0D108BD9-81ED-4DB2-BD59-A6C34878D82A}">
                    <a16:rowId xmlns:a16="http://schemas.microsoft.com/office/drawing/2014/main" val="1712958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64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007822" y="88122"/>
            <a:ext cx="73196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solidFill>
                  <a:schemeClr val="bg1">
                    <a:lumMod val="95000"/>
                  </a:schemeClr>
                </a:solidFill>
                <a:latin typeface="Century Gothic" panose="020B0502020202020204" pitchFamily="34" charset="0"/>
              </a:rPr>
              <a:t>RACI матрица (8 ключевых задач)</a:t>
            </a:r>
            <a:endParaRPr lang="ru-RU" sz="3200" dirty="0">
              <a:solidFill>
                <a:schemeClr val="bg1">
                  <a:lumMod val="95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133937"/>
              </p:ext>
            </p:extLst>
          </p:nvPr>
        </p:nvGraphicFramePr>
        <p:xfrm>
          <a:off x="-1" y="549276"/>
          <a:ext cx="12036427" cy="58311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91237">
                  <a:extLst>
                    <a:ext uri="{9D8B030D-6E8A-4147-A177-3AD203B41FA5}">
                      <a16:colId xmlns:a16="http://schemas.microsoft.com/office/drawing/2014/main" val="2538781323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3969719154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476013967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3027489477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1301532296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00858699"/>
                    </a:ext>
                  </a:extLst>
                </a:gridCol>
                <a:gridCol w="1840865">
                  <a:extLst>
                    <a:ext uri="{9D8B030D-6E8A-4147-A177-3AD203B41FA5}">
                      <a16:colId xmlns:a16="http://schemas.microsoft.com/office/drawing/2014/main" val="2653536693"/>
                    </a:ext>
                  </a:extLst>
                </a:gridCol>
              </a:tblGrid>
              <a:tr h="4623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Задача проекта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Заказчик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ПМ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Архитектор C++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Разработчик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QA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Тех.писатель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extLst>
                  <a:ext uri="{0D108BD9-81ED-4DB2-BD59-A6C34878D82A}">
                    <a16:rowId xmlns:a16="http://schemas.microsoft.com/office/drawing/2014/main" val="3137169460"/>
                  </a:ext>
                </a:extLst>
              </a:tr>
              <a:tr h="6754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Техническое проектирование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C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750762461"/>
                  </a:ext>
                </a:extLst>
              </a:tr>
              <a:tr h="6754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Разработка ядра конструктора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I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R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2905521009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Создание системы инжектирования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929815857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Реализация визуального редактора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2196650543"/>
                  </a:ext>
                </a:extLst>
              </a:tr>
              <a:tr h="5688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Модульное тестирование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432109384"/>
                  </a:ext>
                </a:extLst>
              </a:tr>
              <a:tr h="78203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Кроссплатформенное тестирование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972827067"/>
                  </a:ext>
                </a:extLst>
              </a:tr>
              <a:tr h="56889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Написание документации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605213365"/>
                  </a:ext>
                </a:extLst>
              </a:tr>
              <a:tr h="46232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Подготовка релиза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A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R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I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>
                          <a:effectLst/>
                        </a:rPr>
                        <a:t>C</a:t>
                      </a:r>
                      <a:endParaRPr lang="ru-RU" sz="9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65270" marT="40794" marB="4079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spcAft>
                          <a:spcPts val="0"/>
                        </a:spcAft>
                      </a:pPr>
                      <a:r>
                        <a:rPr lang="ru-RU" sz="900" kern="0" dirty="0">
                          <a:effectLst/>
                        </a:rPr>
                        <a:t>C</a:t>
                      </a:r>
                      <a:endParaRPr lang="ru-RU" sz="9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notosanscjksc"/>
                      </a:endParaRPr>
                    </a:p>
                  </a:txBody>
                  <a:tcPr marL="65270" marR="0" marT="40794" marB="40794" anchor="ctr"/>
                </a:tc>
                <a:extLst>
                  <a:ext uri="{0D108BD9-81ED-4DB2-BD59-A6C34878D82A}">
                    <a16:rowId xmlns:a16="http://schemas.microsoft.com/office/drawing/2014/main" val="104315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1857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99853" y="549275"/>
            <a:ext cx="5513547" cy="575945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096000" y="549275"/>
            <a:ext cx="55547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информационных потоков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020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061507" y="-27352"/>
            <a:ext cx="5812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Шаблон отчёта по коммуникациям </a:t>
            </a:r>
          </a:p>
        </p:txBody>
      </p:sp>
      <p:pic>
        <p:nvPicPr>
          <p:cNvPr id="7" name="Рисунок 6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549275"/>
            <a:ext cx="4330700" cy="5038725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3"/>
          <a:stretch>
            <a:fillRect/>
          </a:stretch>
        </p:blipFill>
        <p:spPr>
          <a:xfrm>
            <a:off x="4449749" y="537932"/>
            <a:ext cx="4127500" cy="5050068"/>
          </a:xfrm>
          <a:prstGeom prst="rect">
            <a:avLst/>
          </a:prstGeom>
        </p:spPr>
      </p:pic>
      <p:pic>
        <p:nvPicPr>
          <p:cNvPr id="9" name="Рисунок 8"/>
          <p:cNvPicPr/>
          <p:nvPr/>
        </p:nvPicPr>
        <p:blipFill>
          <a:blip r:embed="rId4"/>
          <a:stretch>
            <a:fillRect/>
          </a:stretch>
        </p:blipFill>
        <p:spPr>
          <a:xfrm>
            <a:off x="8703689" y="549275"/>
            <a:ext cx="4255963" cy="4984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56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3147116" y="133776"/>
            <a:ext cx="58977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 о коммуникациях в проекте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8666" y="549274"/>
            <a:ext cx="1192775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Какие проблемы коммуникаций предусмотрены: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Разрыв между технической и бизнес-командами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решено через регулярные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демо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-сессии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Потеря информации в чатах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фиксация решений в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Confluence</a:t>
            </a:r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Задержки в согласованиях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чёткие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дедлайны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и ответственные (матрица RACI)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Недостаточная прозрачность прогресса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еженедельные статус-отчёты</a:t>
            </a:r>
          </a:p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Как план поможет избежать недопонимания: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Чёткие роли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(RACI) исключают "коллективную безответственность"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Регулярность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встреч предотвращает накопление проблем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Мультиформатность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текст+видео+личные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встречи) учитывает стили коммуникации участников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Документирование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всех решений создает единый источник истины</a:t>
            </a:r>
          </a:p>
          <a:p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Выбранные инструменты и обоснование: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Яндекс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Трекер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задач и багов (уже используется в проекте)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Slack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оперативных коммуникаций (интеграция с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Трекером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Google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Meet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Zoom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видеовстреч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(доступность, запись)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Confluence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/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Google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Docs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документации (совместное редактирование)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GitHub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кода и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code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review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(стандарт для C++ проектов)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Miro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- для визуального планирования и </a:t>
            </a:r>
            <a:r>
              <a:rPr lang="ru-RU" sz="20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ретроспектив</a:t>
            </a:r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0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46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064506" y="-5123988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250503" y="-50890"/>
            <a:ext cx="35349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Управление рисками</a:t>
            </a:r>
          </a:p>
          <a:p>
            <a:pPr lvl="0" algn="ctr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Список рисков</a:t>
            </a:r>
          </a:p>
          <a:p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183236"/>
              </p:ext>
            </p:extLst>
          </p:nvPr>
        </p:nvGraphicFramePr>
        <p:xfrm>
          <a:off x="0" y="951603"/>
          <a:ext cx="12036899" cy="5274793"/>
        </p:xfrm>
        <a:graphic>
          <a:graphicData uri="http://schemas.openxmlformats.org/drawingml/2006/table">
            <a:tbl>
              <a:tblPr/>
              <a:tblGrid>
                <a:gridCol w="266700">
                  <a:extLst>
                    <a:ext uri="{9D8B030D-6E8A-4147-A177-3AD203B41FA5}">
                      <a16:colId xmlns:a16="http://schemas.microsoft.com/office/drawing/2014/main" val="1097131673"/>
                    </a:ext>
                  </a:extLst>
                </a:gridCol>
                <a:gridCol w="4271174">
                  <a:extLst>
                    <a:ext uri="{9D8B030D-6E8A-4147-A177-3AD203B41FA5}">
                      <a16:colId xmlns:a16="http://schemas.microsoft.com/office/drawing/2014/main" val="2744889649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1965674221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3833741075"/>
                    </a:ext>
                  </a:extLst>
                </a:gridCol>
                <a:gridCol w="2499675">
                  <a:extLst>
                    <a:ext uri="{9D8B030D-6E8A-4147-A177-3AD203B41FA5}">
                      <a16:colId xmlns:a16="http://schemas.microsoft.com/office/drawing/2014/main" val="2861377885"/>
                    </a:ext>
                  </a:extLst>
                </a:gridCol>
              </a:tblGrid>
              <a:tr h="173257">
                <a:tc>
                  <a:txBody>
                    <a:bodyPr/>
                    <a:lstStyle/>
                    <a:p>
                      <a:pPr algn="l"/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ID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Описание риска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Стадия ЖЦ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Причина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Последствие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4727704"/>
                  </a:ext>
                </a:extLst>
              </a:tr>
              <a:tr h="467714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Срыв сроков из-за сложности интеграции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с системой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инжектирования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Недооценка сложности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API 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Задержка 4 недели, переработка архитектуры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6893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2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Падение производительности при 100+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виджетах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Алгоритмическая сложность O(n²) в рендеринге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Невозможность обработки больших проектов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289824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3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Несовместимость версий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(1.89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vs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1.90)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Breaking changes </a:t>
                      </a:r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между версиями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Критические ошибки компиляции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1664806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4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Утечки памяти в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кастомных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виджетах</a:t>
                      </a:r>
                      <a:endParaRPr lang="ru-RU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Тестирование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Неправильное управление ресурсами </a:t>
                      </a:r>
                      <a:r>
                        <a:rPr lang="en-US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endParaRPr lang="en-US" sz="1000" b="0" dirty="0">
                        <a:solidFill>
                          <a:schemeClr val="bg1">
                            <a:lumMod val="9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quote-cjk-patch"/>
                      </a:endParaRP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Падение приложения, негативные отзывы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3320890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5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Недостаточная кроссплатформенность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Зависимости от специфичных API Windows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Ограничение рынка сбыта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1584246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6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Конфликты лицензий (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Dear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MIT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vs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</a:t>
                      </a:r>
                      <a:r>
                        <a:rPr lang="ru-RU" sz="1000" b="0" dirty="0" err="1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проприетарные</a:t>
                      </a:r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 компоненты)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Инициация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Смешанное лицензирование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Юридические проблемы, штрафы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443874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7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данных проекта при сбое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Отсутствие автосохранения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часов работы пользователей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743685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8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обучения новых разработчиков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Высокий порог входа в 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Медленный onboarding, зависимость от ключевых разработчиков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8907817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9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Недостаточное покрытие тестами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Тестирование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тестирования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Критические баги в релизе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45083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10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Перерасход бюджета на оптимизацию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Непредвиденные сложности с рендерингом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Превышение бюджета на 30%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25586"/>
                  </a:ext>
                </a:extLst>
              </a:tr>
              <a:tr h="180105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11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Уход ключевого разработчика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ImGUI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Разработка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Высокая нагрузка, выгорание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Остановка проекта на 2 месяца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915461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12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Несоответствие требованиям заказчика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Анализ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Изменение ТЗ в процессе разработки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Переделка функционала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0858309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13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Проблемы с HiDPI и разными масштабами экрана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Дизайн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Сложности в ImGUI с масштабированием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Нечитаемый интерфейс на 4K экранах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288512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14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Уязвимости безопасности в плагинах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Отсутствие sandbox для сторонних виджетов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Эксплойты, компрометация данных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7703250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15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Недостаток документации для разработчиков виджетов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Поддержка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Сложность </a:t>
                      </a:r>
                      <a:r>
                        <a:rPr lang="en-US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API, </a:t>
                      </a:r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нехватка примеров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Медленный рост экосистемы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035308"/>
                  </a:ext>
                </a:extLst>
              </a:tr>
              <a:tr h="323909"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16</a:t>
                      </a:r>
                    </a:p>
                  </a:txBody>
                  <a:tcPr marL="19390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Конкуренция с коммерческими конструкторами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Внедрение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Появление аналогов с лучшим UX</a:t>
                      </a:r>
                    </a:p>
                  </a:txBody>
                  <a:tcPr marL="32316" marR="32316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quote-cjk-patch"/>
                        </a:rPr>
                        <a:t>Потеря доли рынка</a:t>
                      </a:r>
                    </a:p>
                  </a:txBody>
                  <a:tcPr marL="32316" marR="19390" marT="20197" marB="201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612359"/>
                  </a:ext>
                </a:extLst>
              </a:tr>
            </a:tbl>
          </a:graphicData>
        </a:graphic>
      </p:graphicFrame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78026" y="733940"/>
            <a:ext cx="12192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203136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📋 1. Список идентифицированных рисков (16 рисков)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377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591003" y="87610"/>
            <a:ext cx="34451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Матрица рисков 5×5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119576"/>
              </p:ext>
            </p:extLst>
          </p:nvPr>
        </p:nvGraphicFramePr>
        <p:xfrm>
          <a:off x="232228" y="887917"/>
          <a:ext cx="5978790" cy="40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382">
                  <a:extLst>
                    <a:ext uri="{9D8B030D-6E8A-4147-A177-3AD203B41FA5}">
                      <a16:colId xmlns:a16="http://schemas.microsoft.com/office/drawing/2014/main" val="1295352163"/>
                    </a:ext>
                  </a:extLst>
                </a:gridCol>
                <a:gridCol w="425271">
                  <a:extLst>
                    <a:ext uri="{9D8B030D-6E8A-4147-A177-3AD203B41FA5}">
                      <a16:colId xmlns:a16="http://schemas.microsoft.com/office/drawing/2014/main" val="1651068929"/>
                    </a:ext>
                  </a:extLst>
                </a:gridCol>
                <a:gridCol w="1051278">
                  <a:extLst>
                    <a:ext uri="{9D8B030D-6E8A-4147-A177-3AD203B41FA5}">
                      <a16:colId xmlns:a16="http://schemas.microsoft.com/office/drawing/2014/main" val="3514761401"/>
                    </a:ext>
                  </a:extLst>
                </a:gridCol>
                <a:gridCol w="747713">
                  <a:extLst>
                    <a:ext uri="{9D8B030D-6E8A-4147-A177-3AD203B41FA5}">
                      <a16:colId xmlns:a16="http://schemas.microsoft.com/office/drawing/2014/main" val="705098957"/>
                    </a:ext>
                  </a:extLst>
                </a:gridCol>
                <a:gridCol w="977774">
                  <a:extLst>
                    <a:ext uri="{9D8B030D-6E8A-4147-A177-3AD203B41FA5}">
                      <a16:colId xmlns:a16="http://schemas.microsoft.com/office/drawing/2014/main" val="1612456750"/>
                    </a:ext>
                  </a:extLst>
                </a:gridCol>
                <a:gridCol w="973514">
                  <a:extLst>
                    <a:ext uri="{9D8B030D-6E8A-4147-A177-3AD203B41FA5}">
                      <a16:colId xmlns:a16="http://schemas.microsoft.com/office/drawing/2014/main" val="758085122"/>
                    </a:ext>
                  </a:extLst>
                </a:gridCol>
                <a:gridCol w="1170858">
                  <a:extLst>
                    <a:ext uri="{9D8B030D-6E8A-4147-A177-3AD203B41FA5}">
                      <a16:colId xmlns:a16="http://schemas.microsoft.com/office/drawing/2014/main" val="4015618874"/>
                    </a:ext>
                  </a:extLst>
                </a:gridCol>
              </a:tblGrid>
              <a:tr h="575636">
                <a:tc gridSpan="6">
                  <a:txBody>
                    <a:bodyPr/>
                    <a:lstStyle/>
                    <a:p>
                      <a:pPr algn="ctr"/>
                      <a:r>
                        <a:rPr lang="ru-RU" dirty="0" smtClean="0">
                          <a:latin typeface="Century Gothic" panose="020B0502020202020204" pitchFamily="34" charset="0"/>
                        </a:rPr>
                        <a:t>Влияние</a:t>
                      </a:r>
                      <a:endParaRPr lang="ru-RU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1701673"/>
                  </a:ext>
                </a:extLst>
              </a:tr>
              <a:tr h="583631">
                <a:tc rowSpan="5">
                  <a:txBody>
                    <a:bodyPr/>
                    <a:lstStyle/>
                    <a:p>
                      <a:pPr algn="ctr"/>
                      <a:r>
                        <a:rPr lang="ru-RU" b="1" dirty="0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entury Gothic" panose="020B0502020202020204" pitchFamily="34" charset="0"/>
                        </a:rPr>
                        <a:t>Вероятность</a:t>
                      </a:r>
                      <a:endParaRPr lang="ru-RU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224648273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16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1,11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86287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15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720176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14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13</a:t>
                      </a:r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8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204514"/>
                  </a:ext>
                </a:extLst>
              </a:tr>
              <a:tr h="583631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7,9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4,6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</a:t>
                      </a:r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171948"/>
                  </a:ext>
                </a:extLst>
              </a:tr>
              <a:tr h="583631">
                <a:tc>
                  <a:txBody>
                    <a:bodyPr/>
                    <a:lstStyle/>
                    <a:p>
                      <a:pPr algn="ctr"/>
                      <a:endParaRPr lang="ru-RU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vert="vert27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12</a:t>
                      </a:r>
                      <a:endParaRPr lang="ru-RU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0606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1018" y="1124042"/>
            <a:ext cx="5774338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"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Цифры в ячейках - ID рисков из реестра. </a:t>
            </a:r>
            <a:endParaRPr lang="en-US" sz="20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Цвет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показывает приоритет: </a:t>
            </a:r>
            <a:endParaRPr lang="en-US" sz="2000" b="1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Красный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Высокий (12+), </a:t>
            </a: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Желтый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Средний (8-11), </a:t>
            </a:r>
          </a:p>
          <a:p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Зеленый - </a:t>
            </a:r>
            <a:r>
              <a:rPr lang="ru-RU" sz="20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Низкий (≤7</a:t>
            </a:r>
            <a:r>
              <a:rPr lang="ru-RU" sz="20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)"</a:t>
            </a:r>
            <a:endParaRPr lang="ru-RU" sz="20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439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79063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📊 </a:t>
            </a:r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Количественный </a:t>
            </a:r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" y="556132"/>
            <a:ext cx="1203642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1: Срыв сроков из-за сложности интеграции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600,000 руб. (4 недели × 150,000 руб./неделю команды 5 чел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0.5 (50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0.5 × 600,000 = 300,000 руб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28 дней</a:t>
            </a:r>
          </a:p>
          <a:p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--------------------------------------------------------------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2: Падение производительности при 100+ </a:t>
            </a:r>
            <a:r>
              <a:rPr lang="ru-RU" sz="22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виджетах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450,000 руб. (3 недели переработки + потеря клиентов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0.4 (40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0.4 × 450,000 = 180,000 руб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2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21 </a:t>
            </a:r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день</a:t>
            </a:r>
          </a:p>
          <a:p>
            <a:r>
              <a:rPr lang="ru-RU" sz="22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-------------------------------------------------------------</a:t>
            </a:r>
            <a:endParaRPr lang="ru-RU" sz="22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-1" y="4450438"/>
            <a:ext cx="11103429" cy="1862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3: Несовместимость версий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Ущерб: 300,000 руб. (2 недели на миграцию + тестирование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Вероятность: 0.3 (30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%)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EMV = 0.3 × 300,000 = 90,000 руб</a:t>
            </a:r>
            <a:r>
              <a:rPr lang="ru-RU" sz="23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  <a:endParaRPr lang="ru-RU" sz="23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 восстановления: 14 дней</a:t>
            </a:r>
          </a:p>
        </p:txBody>
      </p:sp>
    </p:spTree>
    <p:extLst>
      <p:ext uri="{BB962C8B-B14F-4D97-AF65-F5344CB8AC3E}">
        <p14:creationId xmlns:p14="http://schemas.microsoft.com/office/powerpoint/2010/main" val="210136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4865"/>
            <a:ext cx="1203642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1: Срыв сроков из-за сложности интеграции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Разработка прототипа интеграции в первые 2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недели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Архитектор C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++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Спринт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1-2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60,000 руб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(Принятие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Резерв времени в 3 недели в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расписании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Руководитель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 весь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150,000 руб. (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буфер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298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4865"/>
            <a:ext cx="12036425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2: Падение производительности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(Снижение):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Производительное тестирование с 500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виджетами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на этапе проектирования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Senior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Developer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Спринт 3</a:t>
            </a: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45,000 руб.</a:t>
            </a: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(Уклонение):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Ограничить MVP 50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виджетами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, оптимизацию - в следующих версиях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Product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Owner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Планирование спринта 1</a:t>
            </a: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0 руб.</a:t>
            </a:r>
          </a:p>
        </p:txBody>
      </p:sp>
    </p:spTree>
    <p:extLst>
      <p:ext uri="{BB962C8B-B14F-4D97-AF65-F5344CB8AC3E}">
        <p14:creationId xmlns:p14="http://schemas.microsoft.com/office/powerpoint/2010/main" val="3319130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352662" y="33200"/>
            <a:ext cx="83006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Стратегии реагирования для 3 критических рисков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14055"/>
            <a:ext cx="12036425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Риск 3: Несовместимость версий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8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1 (Снижение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Зафиксировать версию 1.89.8 и создать локальные </a:t>
            </a:r>
            <a:r>
              <a:rPr lang="ru-RU" sz="2800" b="1" dirty="0" err="1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патчи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Архитектор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Начало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8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30,000 </a:t>
            </a:r>
            <a:r>
              <a:rPr lang="ru-RU" sz="28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руб.</a:t>
            </a:r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endParaRPr lang="ru-RU" sz="28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Стратегия 2 (Передача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):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Действия: Контракт с консультантом по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4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на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поддержку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Ответственный: Руководитель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проекта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Сроки: На весь </a:t>
            </a:r>
            <a:r>
              <a:rPr lang="ru-RU" sz="2400" b="1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</a:t>
            </a:r>
            <a:endParaRPr lang="ru-RU" sz="2400" b="1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r>
              <a:rPr lang="ru-RU" sz="24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Затраты: 120,000 руб.</a:t>
            </a:r>
          </a:p>
        </p:txBody>
      </p:sp>
    </p:spTree>
    <p:extLst>
      <p:ext uri="{BB962C8B-B14F-4D97-AF65-F5344CB8AC3E}">
        <p14:creationId xmlns:p14="http://schemas.microsoft.com/office/powerpoint/2010/main" val="416418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353248" y="181233"/>
            <a:ext cx="29979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📋 Реестр рисков 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338"/>
            <a:ext cx="12036425" cy="578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51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D95EE-9878-5DB7-F2AA-458C7F3B4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Овал 13">
            <a:extLst>
              <a:ext uri="{FF2B5EF4-FFF2-40B4-BE49-F238E27FC236}">
                <a16:creationId xmlns:a16="http://schemas.microsoft.com/office/drawing/2014/main" id="{5B6C4597-3C0D-C8C2-0BFB-D422255718B9}"/>
              </a:ext>
            </a:extLst>
          </p:cNvPr>
          <p:cNvSpPr/>
          <p:nvPr/>
        </p:nvSpPr>
        <p:spPr>
          <a:xfrm rot="1548438">
            <a:off x="-4585204" y="-5981371"/>
            <a:ext cx="19996152" cy="17378114"/>
          </a:xfrm>
          <a:prstGeom prst="ellipse">
            <a:avLst/>
          </a:prstGeom>
          <a:gradFill flip="none" rotWithShape="1">
            <a:gsLst>
              <a:gs pos="0">
                <a:srgbClr val="002D76"/>
              </a:gs>
              <a:gs pos="100000">
                <a:srgbClr val="72A7FE"/>
              </a:gs>
              <a:gs pos="0">
                <a:srgbClr val="1B71FD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4201FFC-A609-3BAE-DCB9-C1E0ABC748D6}"/>
              </a:ext>
            </a:extLst>
          </p:cNvPr>
          <p:cNvSpPr/>
          <p:nvPr/>
        </p:nvSpPr>
        <p:spPr>
          <a:xfrm rot="16200000">
            <a:off x="-5649234" y="-5458872"/>
            <a:ext cx="14170269" cy="10463474"/>
          </a:xfrm>
          <a:prstGeom prst="ellipse">
            <a:avLst/>
          </a:prstGeom>
          <a:gradFill flip="none" rotWithShape="1">
            <a:gsLst>
              <a:gs pos="100000">
                <a:srgbClr val="137C87"/>
              </a:gs>
              <a:gs pos="0">
                <a:srgbClr val="4AD6E5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BA60D5E-37DD-06FD-F379-4B5CB3B81DEF}"/>
              </a:ext>
            </a:extLst>
          </p:cNvPr>
          <p:cNvSpPr/>
          <p:nvPr/>
        </p:nvSpPr>
        <p:spPr>
          <a:xfrm rot="19898243">
            <a:off x="4268775" y="3311716"/>
            <a:ext cx="13974658" cy="9089345"/>
          </a:xfrm>
          <a:prstGeom prst="ellipse">
            <a:avLst/>
          </a:prstGeom>
          <a:gradFill flip="none" rotWithShape="1">
            <a:gsLst>
              <a:gs pos="0">
                <a:srgbClr val="156EFF"/>
              </a:gs>
              <a:gs pos="85000">
                <a:srgbClr val="0046B8"/>
              </a:gs>
              <a:gs pos="0">
                <a:srgbClr val="0153D9"/>
              </a:gs>
            </a:gsLst>
            <a:path path="circle">
              <a:fillToRect l="50000" t="50000" r="50000" b="50000"/>
            </a:path>
            <a:tileRect/>
          </a:gradFill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4985283" y="130673"/>
            <a:ext cx="13965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ru-RU" sz="2400" b="1" u="sng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Выводы</a:t>
            </a:r>
            <a:endParaRPr lang="ru-RU" sz="2400" b="1" u="sng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592338"/>
            <a:ext cx="6096000" cy="433965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Ключевые уроки:</a:t>
            </a:r>
          </a:p>
          <a:p>
            <a:pPr>
              <a:buFont typeface="+mj-lt"/>
              <a:buAutoNum type="arabicPeriod"/>
            </a:pP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- критическая зависимость: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60% рисков связаны с этой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библиотекой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Производительность - главный риск: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Оптимизация рендеринга должна быть на первом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месте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Команда - уязвимое место: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Риски ухода разработчиков и сложность обучения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940425" y="646744"/>
            <a:ext cx="6096000" cy="398570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Рекомендации для проекта:</a:t>
            </a: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Создать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Task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Force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из 2-х разработчиков для глубокого изучения 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библиотеки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Выделить 20% бюджета на буфер рисков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(≈500,000 руб</a:t>
            </a:r>
            <a:r>
              <a:rPr lang="ru-RU" sz="2300" dirty="0" smtClean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.)</a:t>
            </a: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en-US" sz="2300" dirty="0" smtClean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endParaRPr lang="ru-RU" sz="23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Разработать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migration</a:t>
            </a:r>
            <a:r>
              <a:rPr lang="ru-RU" sz="2300" b="1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b="1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path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 для обновлений </a:t>
            </a:r>
            <a:r>
              <a:rPr lang="ru-RU" sz="23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Dear</a:t>
            </a:r>
            <a:r>
              <a:rPr lang="ru-RU" sz="2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ru-RU" sz="23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ImGUI</a:t>
            </a:r>
            <a:endParaRPr lang="ru-RU" sz="2300" b="0" i="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955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1642</Words>
  <Application>Microsoft Office PowerPoint</Application>
  <PresentationFormat>Широкоэкранный</PresentationFormat>
  <Paragraphs>560</Paragraphs>
  <Slides>34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3" baseType="lpstr">
      <vt:lpstr>Aptos</vt:lpstr>
      <vt:lpstr>Arial</vt:lpstr>
      <vt:lpstr>Calibri</vt:lpstr>
      <vt:lpstr>Calibri Light</vt:lpstr>
      <vt:lpstr>Century Gothic</vt:lpstr>
      <vt:lpstr>notosanscjksc</vt:lpstr>
      <vt:lpstr>quote-cjk-patch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Ded Dedov</dc:creator>
  <cp:lastModifiedBy>Ded Dedov</cp:lastModifiedBy>
  <cp:revision>47</cp:revision>
  <dcterms:created xsi:type="dcterms:W3CDTF">2025-10-02T14:03:14Z</dcterms:created>
  <dcterms:modified xsi:type="dcterms:W3CDTF">2025-12-02T12:49:59Z</dcterms:modified>
</cp:coreProperties>
</file>