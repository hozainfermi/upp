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 userDrawn="1">
          <p15:clr>
            <a:srgbClr val="A4A3A4"/>
          </p15:clr>
        </p15:guide>
        <p15:guide id="3" pos="7582" userDrawn="1">
          <p15:clr>
            <a:srgbClr val="A4A3A4"/>
          </p15:clr>
        </p15:guide>
        <p15:guide id="4" userDrawn="1">
          <p15:clr>
            <a:srgbClr val="A4A3A4"/>
          </p15:clr>
        </p15:guide>
        <p15:guide id="5" orient="horz" pos="3974" userDrawn="1">
          <p15:clr>
            <a:srgbClr val="A4A3A4"/>
          </p15:clr>
        </p15:guide>
        <p15:guide id="6" orient="horz" pos="34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37C87"/>
    <a:srgbClr val="0046B8"/>
    <a:srgbClr val="156EFF"/>
    <a:srgbClr val="4AD6E5"/>
    <a:srgbClr val="72A7FE"/>
    <a:srgbClr val="004ECC"/>
    <a:srgbClr val="1B71FD"/>
    <a:srgbClr val="0153D9"/>
    <a:srgbClr val="002D76"/>
    <a:srgbClr val="2177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4" autoAdjust="0"/>
  </p:normalViewPr>
  <p:slideViewPr>
    <p:cSldViewPr snapToGrid="0">
      <p:cViewPr>
        <p:scale>
          <a:sx n="50" d="100"/>
          <a:sy n="50" d="100"/>
        </p:scale>
        <p:origin x="1230" y="1290"/>
      </p:cViewPr>
      <p:guideLst>
        <p:guide pos="3840"/>
        <p:guide pos="7582"/>
        <p:guide/>
        <p:guide orient="horz" pos="3974"/>
        <p:guide orient="horz" pos="34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E4336-F148-433E-B6EE-9323191A377D}" type="datetimeFigureOut">
              <a:rPr lang="ru-RU" smtClean="0"/>
              <a:t>02.10.2025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C5BC0-2BE4-43EC-B222-B3175320CA4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00663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E4336-F148-433E-B6EE-9323191A377D}" type="datetimeFigureOut">
              <a:rPr lang="ru-RU" smtClean="0"/>
              <a:t>02.10.2025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C5BC0-2BE4-43EC-B222-B3175320CA4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584982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E4336-F148-433E-B6EE-9323191A377D}" type="datetimeFigureOut">
              <a:rPr lang="ru-RU" smtClean="0"/>
              <a:t>02.10.2025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C5BC0-2BE4-43EC-B222-B3175320CA4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536162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E4336-F148-433E-B6EE-9323191A377D}" type="datetimeFigureOut">
              <a:rPr lang="ru-RU" smtClean="0"/>
              <a:t>02.10.2025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C5BC0-2BE4-43EC-B222-B3175320CA4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82380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E4336-F148-433E-B6EE-9323191A377D}" type="datetimeFigureOut">
              <a:rPr lang="ru-RU" smtClean="0"/>
              <a:t>02.10.2025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C5BC0-2BE4-43EC-B222-B3175320CA4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27901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E4336-F148-433E-B6EE-9323191A377D}" type="datetimeFigureOut">
              <a:rPr lang="ru-RU" smtClean="0"/>
              <a:t>02.10.2025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C5BC0-2BE4-43EC-B222-B3175320CA4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723828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E4336-F148-433E-B6EE-9323191A377D}" type="datetimeFigureOut">
              <a:rPr lang="ru-RU" smtClean="0"/>
              <a:t>02.10.2025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C5BC0-2BE4-43EC-B222-B3175320CA4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504383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E4336-F148-433E-B6EE-9323191A377D}" type="datetimeFigureOut">
              <a:rPr lang="ru-RU" smtClean="0"/>
              <a:t>02.10.2025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C5BC0-2BE4-43EC-B222-B3175320CA4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142000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E4336-F148-433E-B6EE-9323191A377D}" type="datetimeFigureOut">
              <a:rPr lang="ru-RU" smtClean="0"/>
              <a:t>02.10.2025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C5BC0-2BE4-43EC-B222-B3175320CA4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7414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E4336-F148-433E-B6EE-9323191A377D}" type="datetimeFigureOut">
              <a:rPr lang="ru-RU" smtClean="0"/>
              <a:t>02.10.2025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C5BC0-2BE4-43EC-B222-B3175320CA4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023328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E4336-F148-433E-B6EE-9323191A377D}" type="datetimeFigureOut">
              <a:rPr lang="ru-RU" smtClean="0"/>
              <a:t>02.10.2025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C5BC0-2BE4-43EC-B222-B3175320CA4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422952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8E4336-F148-433E-B6EE-9323191A377D}" type="datetimeFigureOut">
              <a:rPr lang="ru-RU" smtClean="0"/>
              <a:t>02.10.2025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1C5BC0-2BE4-43EC-B222-B3175320CA4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516922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6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Овал 13"/>
          <p:cNvSpPr/>
          <p:nvPr/>
        </p:nvSpPr>
        <p:spPr>
          <a:xfrm rot="1548438">
            <a:off x="-2802612" y="-1213492"/>
            <a:ext cx="12594383" cy="13912112"/>
          </a:xfrm>
          <a:prstGeom prst="ellipse">
            <a:avLst/>
          </a:prstGeom>
          <a:gradFill flip="none" rotWithShape="1">
            <a:gsLst>
              <a:gs pos="0">
                <a:srgbClr val="002D76"/>
              </a:gs>
              <a:gs pos="100000">
                <a:srgbClr val="72A7FE"/>
              </a:gs>
              <a:gs pos="0">
                <a:srgbClr val="1B71FD"/>
              </a:gs>
            </a:gsLst>
            <a:path path="circle">
              <a:fillToRect l="50000" t="50000" r="50000" b="50000"/>
            </a:path>
            <a:tileRect/>
          </a:gradFill>
          <a:effectLst>
            <a:softEdge rad="1270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Овал 17"/>
          <p:cNvSpPr/>
          <p:nvPr/>
        </p:nvSpPr>
        <p:spPr>
          <a:xfrm rot="18140505">
            <a:off x="3427256" y="-4500644"/>
            <a:ext cx="12005126" cy="13888765"/>
          </a:xfrm>
          <a:prstGeom prst="ellipse">
            <a:avLst/>
          </a:prstGeom>
          <a:gradFill flip="none" rotWithShape="1">
            <a:gsLst>
              <a:gs pos="0">
                <a:srgbClr val="002D76"/>
              </a:gs>
              <a:gs pos="100000">
                <a:srgbClr val="002D76"/>
              </a:gs>
              <a:gs pos="0">
                <a:srgbClr val="2177FE"/>
              </a:gs>
            </a:gsLst>
            <a:path path="circle">
              <a:fillToRect l="50000" t="50000" r="50000" b="50000"/>
            </a:path>
            <a:tileRect/>
          </a:gradFill>
          <a:effectLst>
            <a:softEdge rad="1270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Овал 15"/>
          <p:cNvSpPr/>
          <p:nvPr/>
        </p:nvSpPr>
        <p:spPr>
          <a:xfrm rot="16200000">
            <a:off x="-5649234" y="-5458872"/>
            <a:ext cx="14170269" cy="10463474"/>
          </a:xfrm>
          <a:prstGeom prst="ellipse">
            <a:avLst/>
          </a:prstGeom>
          <a:gradFill flip="none" rotWithShape="1">
            <a:gsLst>
              <a:gs pos="100000">
                <a:srgbClr val="137C87"/>
              </a:gs>
              <a:gs pos="0">
                <a:srgbClr val="4AD6E5"/>
              </a:gs>
            </a:gsLst>
            <a:path path="circle">
              <a:fillToRect l="50000" t="50000" r="50000" b="50000"/>
            </a:path>
            <a:tileRect/>
          </a:gradFill>
          <a:effectLst>
            <a:softEdge rad="1270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7" name="Овал 16"/>
          <p:cNvSpPr/>
          <p:nvPr/>
        </p:nvSpPr>
        <p:spPr>
          <a:xfrm rot="19898243">
            <a:off x="4268775" y="3311716"/>
            <a:ext cx="13974658" cy="9089345"/>
          </a:xfrm>
          <a:prstGeom prst="ellipse">
            <a:avLst/>
          </a:prstGeom>
          <a:gradFill flip="none" rotWithShape="1">
            <a:gsLst>
              <a:gs pos="0">
                <a:srgbClr val="156EFF"/>
              </a:gs>
              <a:gs pos="85000">
                <a:srgbClr val="0046B8"/>
              </a:gs>
              <a:gs pos="0">
                <a:srgbClr val="0153D9"/>
              </a:gs>
            </a:gsLst>
            <a:path path="circle">
              <a:fillToRect l="50000" t="50000" r="50000" b="50000"/>
            </a:path>
            <a:tileRect/>
          </a:gradFill>
          <a:effectLst>
            <a:softEdge rad="1270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extBox 1"/>
          <p:cNvSpPr txBox="1"/>
          <p:nvPr/>
        </p:nvSpPr>
        <p:spPr>
          <a:xfrm>
            <a:off x="4298149" y="613168"/>
            <a:ext cx="3595701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 err="1" smtClean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WidgetForge</a:t>
            </a:r>
            <a:r>
              <a:rPr lang="en-US" b="1" dirty="0"/>
              <a:t> </a:t>
            </a:r>
          </a:p>
          <a:p>
            <a:endParaRPr lang="ru-RU" dirty="0"/>
          </a:p>
        </p:txBody>
      </p:sp>
      <p:sp>
        <p:nvSpPr>
          <p:cNvPr id="3" name="TextBox 2"/>
          <p:cNvSpPr txBox="1"/>
          <p:nvPr/>
        </p:nvSpPr>
        <p:spPr>
          <a:xfrm>
            <a:off x="3887703" y="1183091"/>
            <a:ext cx="4416594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000" b="1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Проблема и Решение</a:t>
            </a:r>
            <a:endParaRPr lang="ru-RU" sz="3000" dirty="0">
              <a:solidFill>
                <a:schemeClr val="bg1">
                  <a:lumMod val="95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41464" y="1895078"/>
            <a:ext cx="2207656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000" b="1" dirty="0" smtClean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Проблем</a:t>
            </a:r>
            <a:r>
              <a:rPr lang="ru-RU" sz="3000" b="1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а</a:t>
            </a:r>
            <a:endParaRPr lang="ru-RU" sz="3000" dirty="0">
              <a:solidFill>
                <a:schemeClr val="bg1">
                  <a:lumMod val="95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053277" y="1889740"/>
            <a:ext cx="3201517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000" b="1" dirty="0" smtClean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Наше </a:t>
            </a:r>
            <a:r>
              <a:rPr lang="ru-RU" sz="3000" b="1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р</a:t>
            </a:r>
            <a:r>
              <a:rPr lang="ru-RU" sz="3000" b="1" dirty="0" smtClean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ешение</a:t>
            </a:r>
            <a:endParaRPr lang="ru-RU" sz="3000" dirty="0">
              <a:solidFill>
                <a:schemeClr val="bg1">
                  <a:lumMod val="95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85516" y="2706675"/>
            <a:ext cx="5210484" cy="33855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solidFill>
                  <a:srgbClr val="FF0000"/>
                </a:solidFill>
                <a:latin typeface="Century Gothic" panose="020B0502020202020204" pitchFamily="34" charset="0"/>
              </a:rPr>
              <a:t>❌</a:t>
            </a:r>
            <a:r>
              <a:rPr lang="ru-RU" sz="2800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 </a:t>
            </a:r>
            <a:r>
              <a:rPr lang="ru-RU" sz="2800" dirty="0" err="1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Rainmeter</a:t>
            </a:r>
            <a:r>
              <a:rPr lang="ru-RU" sz="2800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: нужно </a:t>
            </a:r>
            <a:r>
              <a:rPr lang="ru-RU" sz="2800" dirty="0" err="1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кодить</a:t>
            </a:r>
            <a:r>
              <a:rPr lang="ru-RU" sz="2800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, сложно</a:t>
            </a:r>
          </a:p>
          <a:p>
            <a:endParaRPr lang="en-US" sz="2800" dirty="0" smtClean="0">
              <a:solidFill>
                <a:srgbClr val="FF0000"/>
              </a:solidFill>
              <a:latin typeface="Century Gothic" panose="020B0502020202020204" pitchFamily="34" charset="0"/>
            </a:endParaRPr>
          </a:p>
          <a:p>
            <a:r>
              <a:rPr lang="ru-RU" sz="2800" dirty="0" smtClean="0">
                <a:solidFill>
                  <a:srgbClr val="FF0000"/>
                </a:solidFill>
                <a:latin typeface="Century Gothic" panose="020B0502020202020204" pitchFamily="34" charset="0"/>
              </a:rPr>
              <a:t>❌</a:t>
            </a:r>
            <a:r>
              <a:rPr lang="ru-RU" sz="2800" dirty="0" smtClean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 </a:t>
            </a:r>
            <a:r>
              <a:rPr lang="ru-RU" sz="2800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Только для </a:t>
            </a:r>
            <a:r>
              <a:rPr lang="ru-RU" sz="2800" dirty="0" err="1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Windows</a:t>
            </a:r>
            <a:endParaRPr lang="ru-RU" sz="2800" dirty="0">
              <a:solidFill>
                <a:schemeClr val="bg1">
                  <a:lumMod val="95000"/>
                </a:schemeClr>
              </a:solidFill>
              <a:latin typeface="Century Gothic" panose="020B0502020202020204" pitchFamily="34" charset="0"/>
            </a:endParaRPr>
          </a:p>
          <a:p>
            <a:endParaRPr lang="en-US" sz="2800" dirty="0" smtClean="0">
              <a:solidFill>
                <a:srgbClr val="FF0000"/>
              </a:solidFill>
              <a:latin typeface="Century Gothic" panose="020B0502020202020204" pitchFamily="34" charset="0"/>
            </a:endParaRPr>
          </a:p>
          <a:p>
            <a:r>
              <a:rPr lang="ru-RU" sz="2800" dirty="0" smtClean="0">
                <a:solidFill>
                  <a:srgbClr val="FF0000"/>
                </a:solidFill>
                <a:latin typeface="Century Gothic" panose="020B0502020202020204" pitchFamily="34" charset="0"/>
              </a:rPr>
              <a:t>❌</a:t>
            </a:r>
            <a:r>
              <a:rPr lang="ru-RU" sz="2800" dirty="0" smtClean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 </a:t>
            </a:r>
            <a:r>
              <a:rPr lang="ru-RU" sz="2800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Нет встроенного </a:t>
            </a:r>
            <a:r>
              <a:rPr lang="ru-RU" sz="2800" dirty="0" err="1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инжектирования</a:t>
            </a:r>
            <a:endParaRPr lang="ru-RU" sz="2800" dirty="0">
              <a:solidFill>
                <a:schemeClr val="bg1">
                  <a:lumMod val="95000"/>
                </a:schemeClr>
              </a:solidFill>
              <a:latin typeface="Century Gothic" panose="020B0502020202020204" pitchFamily="34" charset="0"/>
            </a:endParaRPr>
          </a:p>
          <a:p>
            <a:endParaRPr lang="ru-RU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6096000" y="2646365"/>
            <a:ext cx="5292725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>
                <a:solidFill>
                  <a:srgbClr val="00B050"/>
                </a:solidFill>
                <a:latin typeface="Century Gothic" panose="020B0502020202020204" pitchFamily="34" charset="0"/>
              </a:rPr>
              <a:t>✅</a:t>
            </a:r>
            <a:r>
              <a:rPr lang="ru-RU" sz="2800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 Визуальный конструктор (</a:t>
            </a:r>
            <a:r>
              <a:rPr lang="ru-RU" sz="2800" dirty="0" err="1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Drag-and-Drop</a:t>
            </a:r>
            <a:r>
              <a:rPr lang="ru-RU" sz="2800" dirty="0" smtClean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)</a:t>
            </a:r>
            <a:endParaRPr lang="en-US" sz="2800" dirty="0" smtClean="0">
              <a:solidFill>
                <a:schemeClr val="bg1">
                  <a:lumMod val="95000"/>
                </a:schemeClr>
              </a:solidFill>
              <a:latin typeface="Century Gothic" panose="020B0502020202020204" pitchFamily="34" charset="0"/>
            </a:endParaRPr>
          </a:p>
          <a:p>
            <a:endParaRPr lang="ru-RU" sz="2800" dirty="0">
              <a:solidFill>
                <a:schemeClr val="bg1">
                  <a:lumMod val="95000"/>
                </a:schemeClr>
              </a:solidFill>
              <a:latin typeface="Century Gothic" panose="020B0502020202020204" pitchFamily="34" charset="0"/>
            </a:endParaRPr>
          </a:p>
          <a:p>
            <a:r>
              <a:rPr lang="ru-RU" sz="2800" dirty="0">
                <a:solidFill>
                  <a:srgbClr val="00B050"/>
                </a:solidFill>
                <a:latin typeface="Century Gothic" panose="020B0502020202020204" pitchFamily="34" charset="0"/>
              </a:rPr>
              <a:t>✅</a:t>
            </a:r>
            <a:r>
              <a:rPr lang="ru-RU" sz="2800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 Работает на </a:t>
            </a:r>
            <a:r>
              <a:rPr lang="ru-RU" sz="2800" dirty="0" err="1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Windows</a:t>
            </a:r>
            <a:r>
              <a:rPr lang="ru-RU" sz="2800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, </a:t>
            </a:r>
            <a:r>
              <a:rPr lang="ru-RU" sz="2800" dirty="0" err="1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macOS</a:t>
            </a:r>
            <a:r>
              <a:rPr lang="ru-RU" sz="2800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, </a:t>
            </a:r>
            <a:r>
              <a:rPr lang="ru-RU" sz="2800" dirty="0" err="1" smtClean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Linux</a:t>
            </a:r>
            <a:endParaRPr lang="en-US" sz="2800" dirty="0" smtClean="0">
              <a:solidFill>
                <a:schemeClr val="bg1">
                  <a:lumMod val="95000"/>
                </a:schemeClr>
              </a:solidFill>
              <a:latin typeface="Century Gothic" panose="020B0502020202020204" pitchFamily="34" charset="0"/>
            </a:endParaRPr>
          </a:p>
          <a:p>
            <a:endParaRPr lang="ru-RU" sz="2800" dirty="0">
              <a:solidFill>
                <a:schemeClr val="bg1">
                  <a:lumMod val="95000"/>
                </a:schemeClr>
              </a:solidFill>
              <a:latin typeface="Century Gothic" panose="020B0502020202020204" pitchFamily="34" charset="0"/>
            </a:endParaRPr>
          </a:p>
          <a:p>
            <a:r>
              <a:rPr lang="ru-RU" sz="2800" dirty="0">
                <a:solidFill>
                  <a:srgbClr val="00B050"/>
                </a:solidFill>
                <a:latin typeface="Century Gothic" panose="020B0502020202020204" pitchFamily="34" charset="0"/>
              </a:rPr>
              <a:t>✅</a:t>
            </a:r>
            <a:r>
              <a:rPr lang="ru-RU" sz="2800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 Встраивайте </a:t>
            </a:r>
            <a:r>
              <a:rPr lang="ru-RU" sz="2800" dirty="0" err="1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виджеты</a:t>
            </a:r>
            <a:r>
              <a:rPr lang="ru-RU" sz="2800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 в любые приложения</a:t>
            </a:r>
            <a:endParaRPr lang="ru-RU" sz="2800" b="0" i="0" dirty="0">
              <a:solidFill>
                <a:schemeClr val="bg1">
                  <a:lumMod val="95000"/>
                </a:schemeClr>
              </a:solidFill>
              <a:effectLst/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4840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8" presetClass="emph" presetSubtype="0" repeatCount="indefinite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Rot by="21600000">
                                          <p:cBhvr>
                                            <p:cTn id="6" dur="90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7" presetID="8" presetClass="emph" presetSubtype="0" repeatCount="indefinite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Rot by="21600000">
                                          <p:cBhvr>
                                            <p:cTn id="8" dur="130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9" presetID="8" presetClass="emph" presetSubtype="0" repeatCount="indefinite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Rot by="21600000">
                                          <p:cBhvr>
                                            <p:cTn id="10" dur="160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11" presetID="8" presetClass="emph" presetSubtype="0" repeatCount="indefinite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Rot by="21600000">
                                          <p:cBhvr>
                                            <p:cTn id="12" dur="210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4" fill="hold" grpId="0" nodeType="withEffect" p14:presetBounceEnd="8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80000">
                                          <p:cBhvr additive="base">
                                            <p:cTn id="15" dur="18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80000">
                                          <p:cBhvr additive="base">
                                            <p:cTn id="16" dur="18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4" fill="hold" grpId="0" nodeType="withEffect" p14:presetBounceEnd="8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80000">
                                          <p:cBhvr additive="base">
                                            <p:cTn id="19" dur="20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80000">
                                          <p:cBhvr additive="base">
                                            <p:cTn id="20" dur="20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4" grpId="0" animBg="1"/>
          <p:bldP spid="18" grpId="0" animBg="1"/>
          <p:bldP spid="16" grpId="0" animBg="1"/>
          <p:bldP spid="17" grpId="0" animBg="1"/>
          <p:bldP spid="2" grpId="0"/>
          <p:bldP spid="3" grpId="0"/>
        </p:bldLst>
      </p:timing>
    </mc:Choice>
    <mc:Fallback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8" presetClass="emph" presetSubtype="0" repeatCount="indefinite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Rot by="21600000">
                                          <p:cBhvr>
                                            <p:cTn id="6" dur="90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7" presetID="8" presetClass="emph" presetSubtype="0" repeatCount="indefinite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Rot by="21600000">
                                          <p:cBhvr>
                                            <p:cTn id="8" dur="130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9" presetID="8" presetClass="emph" presetSubtype="0" repeatCount="indefinite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Rot by="21600000">
                                          <p:cBhvr>
                                            <p:cTn id="10" dur="160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11" presetID="8" presetClass="emph" presetSubtype="0" repeatCount="indefinite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Rot by="21600000">
                                          <p:cBhvr>
                                            <p:cTn id="12" dur="210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18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18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20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0" dur="20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4" grpId="0" animBg="1"/>
          <p:bldP spid="18" grpId="0" animBg="1"/>
          <p:bldP spid="16" grpId="0" animBg="1"/>
          <p:bldP spid="17" grpId="0" animBg="1"/>
          <p:bldP spid="2" grpId="0"/>
          <p:bldP spid="3" grpId="0"/>
        </p:bldLst>
      </p:timing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6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Овал 13"/>
          <p:cNvSpPr/>
          <p:nvPr/>
        </p:nvSpPr>
        <p:spPr>
          <a:xfrm rot="1548438">
            <a:off x="-2802612" y="-1213492"/>
            <a:ext cx="12594383" cy="13912112"/>
          </a:xfrm>
          <a:prstGeom prst="ellipse">
            <a:avLst/>
          </a:prstGeom>
          <a:gradFill flip="none" rotWithShape="1">
            <a:gsLst>
              <a:gs pos="0">
                <a:srgbClr val="002D76"/>
              </a:gs>
              <a:gs pos="100000">
                <a:srgbClr val="72A7FE"/>
              </a:gs>
              <a:gs pos="0">
                <a:srgbClr val="1B71FD"/>
              </a:gs>
            </a:gsLst>
            <a:path path="circle">
              <a:fillToRect l="50000" t="50000" r="50000" b="50000"/>
            </a:path>
            <a:tileRect/>
          </a:gradFill>
          <a:effectLst>
            <a:softEdge rad="1270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Овал 17"/>
          <p:cNvSpPr/>
          <p:nvPr/>
        </p:nvSpPr>
        <p:spPr>
          <a:xfrm rot="18140505">
            <a:off x="3427256" y="-4500644"/>
            <a:ext cx="12005126" cy="13888765"/>
          </a:xfrm>
          <a:prstGeom prst="ellipse">
            <a:avLst/>
          </a:prstGeom>
          <a:gradFill flip="none" rotWithShape="1">
            <a:gsLst>
              <a:gs pos="0">
                <a:srgbClr val="002D76"/>
              </a:gs>
              <a:gs pos="100000">
                <a:srgbClr val="002D76"/>
              </a:gs>
              <a:gs pos="0">
                <a:srgbClr val="2177FE"/>
              </a:gs>
            </a:gsLst>
            <a:path path="circle">
              <a:fillToRect l="50000" t="50000" r="50000" b="50000"/>
            </a:path>
            <a:tileRect/>
          </a:gradFill>
          <a:effectLst>
            <a:softEdge rad="1270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Овал 15"/>
          <p:cNvSpPr/>
          <p:nvPr/>
        </p:nvSpPr>
        <p:spPr>
          <a:xfrm rot="16200000">
            <a:off x="-5649234" y="-5458872"/>
            <a:ext cx="14170269" cy="10463474"/>
          </a:xfrm>
          <a:prstGeom prst="ellipse">
            <a:avLst/>
          </a:prstGeom>
          <a:gradFill flip="none" rotWithShape="1">
            <a:gsLst>
              <a:gs pos="100000">
                <a:srgbClr val="137C87"/>
              </a:gs>
              <a:gs pos="0">
                <a:srgbClr val="4AD6E5"/>
              </a:gs>
            </a:gsLst>
            <a:path path="circle">
              <a:fillToRect l="50000" t="50000" r="50000" b="50000"/>
            </a:path>
            <a:tileRect/>
          </a:gradFill>
          <a:effectLst>
            <a:softEdge rad="1270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7" name="Овал 16"/>
          <p:cNvSpPr/>
          <p:nvPr/>
        </p:nvSpPr>
        <p:spPr>
          <a:xfrm rot="19898243">
            <a:off x="4268775" y="3311716"/>
            <a:ext cx="13974658" cy="9089345"/>
          </a:xfrm>
          <a:prstGeom prst="ellipse">
            <a:avLst/>
          </a:prstGeom>
          <a:gradFill flip="none" rotWithShape="1">
            <a:gsLst>
              <a:gs pos="0">
                <a:srgbClr val="156EFF"/>
              </a:gs>
              <a:gs pos="85000">
                <a:srgbClr val="0046B8"/>
              </a:gs>
              <a:gs pos="0">
                <a:srgbClr val="0153D9"/>
              </a:gs>
            </a:gsLst>
            <a:path path="circle">
              <a:fillToRect l="50000" t="50000" r="50000" b="50000"/>
            </a:path>
            <a:tileRect/>
          </a:gradFill>
          <a:effectLst>
            <a:softEdge rad="1270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extBox 1"/>
          <p:cNvSpPr txBox="1"/>
          <p:nvPr/>
        </p:nvSpPr>
        <p:spPr>
          <a:xfrm>
            <a:off x="2314355" y="537932"/>
            <a:ext cx="756328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000" b="1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Как мы будем развиваться?</a:t>
            </a:r>
            <a:endParaRPr lang="ru-RU" sz="4000" b="1" dirty="0">
              <a:solidFill>
                <a:schemeClr val="bg1">
                  <a:lumMod val="95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175" y="1476740"/>
            <a:ext cx="1218882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000" b="1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Монетизация:</a:t>
            </a:r>
            <a:endParaRPr lang="ru-RU" sz="3000" dirty="0">
              <a:solidFill>
                <a:schemeClr val="bg1">
                  <a:lumMod val="95000"/>
                </a:schemeClr>
              </a:solidFill>
              <a:latin typeface="Century Gothic" panose="020B0502020202020204" pitchFamily="34" charset="0"/>
            </a:endParaRPr>
          </a:p>
          <a:p>
            <a:pPr lvl="1"/>
            <a:r>
              <a:rPr lang="ru-RU" sz="3000" b="1" dirty="0" err="1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Freemium</a:t>
            </a:r>
            <a:r>
              <a:rPr lang="ru-RU" sz="3000" b="1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: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 База — бесплатно, PRO-функции — по подписке</a:t>
            </a:r>
          </a:p>
          <a:p>
            <a:endParaRPr lang="ru-RU" sz="3000" dirty="0">
              <a:solidFill>
                <a:schemeClr val="bg1">
                  <a:lumMod val="95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3174" y="2659745"/>
            <a:ext cx="11541125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000" b="1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План:</a:t>
            </a:r>
            <a:endParaRPr lang="ru-RU" sz="3000" dirty="0">
              <a:solidFill>
                <a:schemeClr val="bg1">
                  <a:lumMod val="95000"/>
                </a:schemeClr>
              </a:solidFill>
              <a:latin typeface="Century Gothic" panose="020B0502020202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sz="3000" b="1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MVP: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 Редактор + базовые 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виджеты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 (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Windows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sz="3000" b="1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Версия 1.0: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 Инжектор + кроссплатформенность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sz="3000" b="1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Версия 2.0: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 Магазин готовых 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виджетов</a:t>
            </a:r>
            <a:endParaRPr lang="ru-RU" sz="3000" b="0" i="0" dirty="0">
              <a:solidFill>
                <a:schemeClr val="bg1">
                  <a:lumMod val="95000"/>
                </a:schemeClr>
              </a:solidFill>
              <a:effectLst/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94898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9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8" dur="13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0" dur="16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2" dur="2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8" grpId="0" animBg="1"/>
      <p:bldP spid="16" grpId="0" animBg="1"/>
      <p:bldP spid="1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6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Овал 13"/>
          <p:cNvSpPr/>
          <p:nvPr/>
        </p:nvSpPr>
        <p:spPr>
          <a:xfrm rot="1548438">
            <a:off x="-2802612" y="-1213492"/>
            <a:ext cx="12594383" cy="13912112"/>
          </a:xfrm>
          <a:prstGeom prst="ellipse">
            <a:avLst/>
          </a:prstGeom>
          <a:gradFill flip="none" rotWithShape="1">
            <a:gsLst>
              <a:gs pos="0">
                <a:srgbClr val="002D76"/>
              </a:gs>
              <a:gs pos="100000">
                <a:srgbClr val="72A7FE"/>
              </a:gs>
              <a:gs pos="0">
                <a:srgbClr val="1B71FD"/>
              </a:gs>
            </a:gsLst>
            <a:path path="circle">
              <a:fillToRect l="50000" t="50000" r="50000" b="50000"/>
            </a:path>
            <a:tileRect/>
          </a:gradFill>
          <a:effectLst>
            <a:softEdge rad="1270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Овал 17"/>
          <p:cNvSpPr/>
          <p:nvPr/>
        </p:nvSpPr>
        <p:spPr>
          <a:xfrm rot="18140505">
            <a:off x="3427256" y="-4500644"/>
            <a:ext cx="12005126" cy="13888765"/>
          </a:xfrm>
          <a:prstGeom prst="ellipse">
            <a:avLst/>
          </a:prstGeom>
          <a:gradFill flip="none" rotWithShape="1">
            <a:gsLst>
              <a:gs pos="0">
                <a:srgbClr val="002D76"/>
              </a:gs>
              <a:gs pos="100000">
                <a:srgbClr val="002D76"/>
              </a:gs>
              <a:gs pos="0">
                <a:srgbClr val="2177FE"/>
              </a:gs>
            </a:gsLst>
            <a:path path="circle">
              <a:fillToRect l="50000" t="50000" r="50000" b="50000"/>
            </a:path>
            <a:tileRect/>
          </a:gradFill>
          <a:effectLst>
            <a:softEdge rad="1270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Овал 15"/>
          <p:cNvSpPr/>
          <p:nvPr/>
        </p:nvSpPr>
        <p:spPr>
          <a:xfrm rot="16200000">
            <a:off x="-5649234" y="-5458872"/>
            <a:ext cx="14170269" cy="10463474"/>
          </a:xfrm>
          <a:prstGeom prst="ellipse">
            <a:avLst/>
          </a:prstGeom>
          <a:gradFill flip="none" rotWithShape="1">
            <a:gsLst>
              <a:gs pos="100000">
                <a:srgbClr val="137C87"/>
              </a:gs>
              <a:gs pos="0">
                <a:srgbClr val="4AD6E5"/>
              </a:gs>
            </a:gsLst>
            <a:path path="circle">
              <a:fillToRect l="50000" t="50000" r="50000" b="50000"/>
            </a:path>
            <a:tileRect/>
          </a:gradFill>
          <a:effectLst>
            <a:softEdge rad="1270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7" name="Овал 16"/>
          <p:cNvSpPr/>
          <p:nvPr/>
        </p:nvSpPr>
        <p:spPr>
          <a:xfrm rot="19898243">
            <a:off x="4268775" y="3311716"/>
            <a:ext cx="13974658" cy="9089345"/>
          </a:xfrm>
          <a:prstGeom prst="ellipse">
            <a:avLst/>
          </a:prstGeom>
          <a:gradFill flip="none" rotWithShape="1">
            <a:gsLst>
              <a:gs pos="0">
                <a:srgbClr val="156EFF"/>
              </a:gs>
              <a:gs pos="85000">
                <a:srgbClr val="0046B8"/>
              </a:gs>
              <a:gs pos="0">
                <a:srgbClr val="0153D9"/>
              </a:gs>
            </a:gsLst>
            <a:path path="circle">
              <a:fillToRect l="50000" t="50000" r="50000" b="50000"/>
            </a:path>
            <a:tileRect/>
          </a:gradFill>
          <a:effectLst>
            <a:softEdge rad="1270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extBox 1"/>
          <p:cNvSpPr txBox="1"/>
          <p:nvPr/>
        </p:nvSpPr>
        <p:spPr>
          <a:xfrm>
            <a:off x="2095500" y="537932"/>
            <a:ext cx="99060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b="1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Почему именно </a:t>
            </a:r>
            <a:r>
              <a:rPr lang="en-US" sz="4000" b="1" dirty="0" err="1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WidgetForge</a:t>
            </a:r>
            <a:r>
              <a:rPr lang="en-US" sz="4000" b="1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?</a:t>
            </a:r>
            <a:r>
              <a:rPr lang="en-US" sz="4000" b="1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 </a:t>
            </a:r>
          </a:p>
          <a:p>
            <a:endParaRPr lang="ru-RU" sz="4000" b="1" dirty="0">
              <a:solidFill>
                <a:schemeClr val="bg1">
                  <a:lumMod val="95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-6343650" y="-2000250"/>
            <a:ext cx="23046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Проблема и решение</a:t>
            </a:r>
            <a:endParaRPr lang="ru-RU" dirty="0"/>
          </a:p>
        </p:txBody>
      </p:sp>
      <p:sp>
        <p:nvSpPr>
          <p:cNvPr id="9" name="TextBox 8"/>
          <p:cNvSpPr txBox="1"/>
          <p:nvPr/>
        </p:nvSpPr>
        <p:spPr>
          <a:xfrm>
            <a:off x="35909" y="1402277"/>
            <a:ext cx="11965591" cy="2431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800" b="1" dirty="0" smtClean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Единственный </a:t>
            </a:r>
            <a:r>
              <a:rPr lang="ru-RU" sz="38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кроссплатформенный конструктор с визуальным редактором и </a:t>
            </a:r>
            <a:r>
              <a:rPr lang="ru-RU" sz="3800" b="1" dirty="0" err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инжектированием</a:t>
            </a:r>
            <a:r>
              <a:rPr lang="ru-RU" sz="38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 — без </a:t>
            </a:r>
            <a:r>
              <a:rPr lang="ru-RU" sz="3800" b="1" dirty="0" smtClean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программирования</a:t>
            </a:r>
            <a:endParaRPr lang="ru-RU" sz="38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 panose="020B0502020202020204" pitchFamily="34" charset="0"/>
            </a:endParaRPr>
          </a:p>
          <a:p>
            <a:endParaRPr lang="ru-RU" sz="38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 panose="020B050202020202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3410609"/>
            <a:ext cx="12036425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500" b="1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Что это значит для пользователя:</a:t>
            </a:r>
            <a:endParaRPr lang="ru-RU" sz="3500" dirty="0">
              <a:solidFill>
                <a:schemeClr val="bg1">
                  <a:lumMod val="95000"/>
                </a:schemeClr>
              </a:solidFill>
              <a:latin typeface="Century Gothic" panose="020B0502020202020204" pitchFamily="34" charset="0"/>
            </a:endParaRPr>
          </a:p>
          <a:p>
            <a:pPr lvl="1"/>
            <a:r>
              <a:rPr lang="ru-RU" sz="3500" dirty="0">
                <a:solidFill>
                  <a:srgbClr val="FF0000"/>
                </a:solidFill>
                <a:latin typeface="Century Gothic" panose="020B0502020202020204" pitchFamily="34" charset="0"/>
              </a:rPr>
              <a:t>🚀</a:t>
            </a:r>
            <a:r>
              <a:rPr lang="ru-RU" sz="3500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 </a:t>
            </a:r>
            <a:r>
              <a:rPr lang="ru-RU" sz="3500" b="1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Быстро:</a:t>
            </a:r>
            <a:r>
              <a:rPr lang="ru-RU" sz="3500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 Собрал </a:t>
            </a:r>
            <a:r>
              <a:rPr lang="ru-RU" sz="3500" dirty="0" err="1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виджет</a:t>
            </a:r>
            <a:r>
              <a:rPr lang="ru-RU" sz="3500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 за 5 минут</a:t>
            </a:r>
          </a:p>
          <a:p>
            <a:pPr lvl="1"/>
            <a:r>
              <a:rPr lang="ru-RU" sz="3500" dirty="0">
                <a:solidFill>
                  <a:schemeClr val="accent4"/>
                </a:solidFill>
                <a:latin typeface="Century Gothic" panose="020B0502020202020204" pitchFamily="34" charset="0"/>
              </a:rPr>
              <a:t>💡</a:t>
            </a:r>
            <a:r>
              <a:rPr lang="ru-RU" sz="3500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 </a:t>
            </a:r>
            <a:r>
              <a:rPr lang="ru-RU" sz="3500" b="1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Просто:</a:t>
            </a:r>
            <a:r>
              <a:rPr lang="ru-RU" sz="3500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 Мыслите дизайном, а не кодом</a:t>
            </a:r>
          </a:p>
          <a:p>
            <a:pPr lvl="1"/>
            <a:r>
              <a:rPr lang="ru-RU" sz="3500" dirty="0">
                <a:solidFill>
                  <a:srgbClr val="137C87"/>
                </a:solidFill>
                <a:latin typeface="Century Gothic" panose="020B0502020202020204" pitchFamily="34" charset="0"/>
              </a:rPr>
              <a:t>🔄</a:t>
            </a:r>
            <a:r>
              <a:rPr lang="ru-RU" sz="3500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 </a:t>
            </a:r>
            <a:r>
              <a:rPr lang="ru-RU" sz="3500" b="1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Гибко:</a:t>
            </a:r>
            <a:r>
              <a:rPr lang="ru-RU" sz="3500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 Один </a:t>
            </a:r>
            <a:r>
              <a:rPr lang="ru-RU" sz="3500" dirty="0" err="1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виджет</a:t>
            </a:r>
            <a:r>
              <a:rPr lang="ru-RU" sz="3500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 — все ваши устройства и приложения</a:t>
            </a:r>
          </a:p>
          <a:p>
            <a:endParaRPr lang="ru-RU" sz="3500" dirty="0">
              <a:solidFill>
                <a:schemeClr val="bg1">
                  <a:lumMod val="95000"/>
                </a:schemeClr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87842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9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8" dur="13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0" dur="16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2" dur="2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8" grpId="0" animBg="1"/>
      <p:bldP spid="16" grpId="0" animBg="1"/>
      <p:bldP spid="17" grpId="0" animBg="1"/>
    </p:bld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80</Words>
  <Application>Microsoft Office PowerPoint</Application>
  <PresentationFormat>Широкоэкранный</PresentationFormat>
  <Paragraphs>28</Paragraphs>
  <Slides>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Century Gothic</vt:lpstr>
      <vt:lpstr>Тема Office</vt:lpstr>
      <vt:lpstr>Презентация PowerPoint</vt:lpstr>
      <vt:lpstr>Презентация PowerPoint</vt:lpstr>
      <vt:lpstr>Презентация PowerPoint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Ded Dedov</dc:creator>
  <cp:lastModifiedBy>Ded Dedov</cp:lastModifiedBy>
  <cp:revision>10</cp:revision>
  <dcterms:created xsi:type="dcterms:W3CDTF">2025-10-02T14:03:14Z</dcterms:created>
  <dcterms:modified xsi:type="dcterms:W3CDTF">2025-10-02T15:18:18Z</dcterms:modified>
</cp:coreProperties>
</file>